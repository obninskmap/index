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65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6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120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Источник</a:t>
            </a:r>
            <a:r>
              <a:rPr dirty="0"/>
              <a:t> </a:t>
            </a:r>
            <a:r>
              <a:rPr dirty="0" err="1"/>
              <a:t>проекта</a:t>
            </a:r>
            <a:r>
              <a:rPr dirty="0"/>
              <a:t>: https://github.com/mgyodda/obninsk-map/tree/main</a:t>
            </a:r>
          </a:p>
          <a:p>
            <a:r>
              <a:rPr dirty="0" err="1"/>
              <a:t>Проект</a:t>
            </a:r>
            <a:r>
              <a:rPr dirty="0"/>
              <a:t> </a:t>
            </a:r>
            <a:r>
              <a:rPr dirty="0" err="1"/>
              <a:t>посвящён</a:t>
            </a:r>
            <a:r>
              <a:rPr dirty="0"/>
              <a:t> </a:t>
            </a:r>
            <a:r>
              <a:rPr dirty="0" err="1"/>
              <a:t>научным</a:t>
            </a:r>
            <a:r>
              <a:rPr dirty="0"/>
              <a:t> </a:t>
            </a:r>
            <a:r>
              <a:rPr dirty="0" err="1"/>
              <a:t>организациям</a:t>
            </a:r>
            <a:r>
              <a:rPr dirty="0"/>
              <a:t> и </a:t>
            </a:r>
            <a:r>
              <a:rPr dirty="0" err="1"/>
              <a:t>предприятиям</a:t>
            </a:r>
            <a:r>
              <a:rPr dirty="0"/>
              <a:t> </a:t>
            </a:r>
            <a:r>
              <a:rPr dirty="0" err="1"/>
              <a:t>Обнинска</a:t>
            </a:r>
            <a:r>
              <a:rPr dirty="0"/>
              <a:t>. </a:t>
            </a:r>
            <a:r>
              <a:rPr dirty="0" err="1"/>
              <a:t>Карта</a:t>
            </a:r>
            <a:r>
              <a:rPr dirty="0"/>
              <a:t> </a:t>
            </a:r>
            <a:r>
              <a:rPr dirty="0" err="1"/>
              <a:t>объединяет</a:t>
            </a:r>
            <a:r>
              <a:rPr dirty="0"/>
              <a:t> </a:t>
            </a:r>
            <a:r>
              <a:rPr dirty="0" err="1"/>
              <a:t>их</a:t>
            </a:r>
            <a:r>
              <a:rPr dirty="0"/>
              <a:t> </a:t>
            </a:r>
            <a:r>
              <a:rPr dirty="0" err="1"/>
              <a:t>расположение</a:t>
            </a:r>
            <a:r>
              <a:rPr dirty="0"/>
              <a:t> и </a:t>
            </a:r>
            <a:r>
              <a:rPr dirty="0" err="1"/>
              <a:t>краткие</a:t>
            </a:r>
            <a:r>
              <a:rPr dirty="0"/>
              <a:t> </a:t>
            </a:r>
            <a:r>
              <a:rPr dirty="0" err="1"/>
              <a:t>сведения</a:t>
            </a:r>
            <a:r>
              <a:rPr dirty="0"/>
              <a:t> о </a:t>
            </a:r>
            <a:r>
              <a:rPr dirty="0" err="1"/>
              <a:t>деятельности</a:t>
            </a:r>
            <a:r>
              <a:rPr dirty="0"/>
              <a:t>. </a:t>
            </a:r>
            <a:r>
              <a:rPr dirty="0" err="1"/>
              <a:t>Фон</a:t>
            </a:r>
            <a:r>
              <a:rPr dirty="0"/>
              <a:t> </a:t>
            </a:r>
            <a:r>
              <a:rPr dirty="0" err="1"/>
              <a:t>является</a:t>
            </a:r>
            <a:r>
              <a:rPr dirty="0"/>
              <a:t> </a:t>
            </a:r>
            <a:r>
              <a:rPr dirty="0" err="1"/>
              <a:t>концептуальной</a:t>
            </a:r>
            <a:r>
              <a:rPr dirty="0"/>
              <a:t> ИИ-</a:t>
            </a:r>
            <a:r>
              <a:rPr dirty="0" err="1"/>
              <a:t>иллюстрацией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фотографией</a:t>
            </a:r>
            <a:r>
              <a:rPr dirty="0"/>
              <a:t> </a:t>
            </a:r>
            <a:r>
              <a:rPr dirty="0" err="1"/>
              <a:t>города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 проекта: https://github.com/mgyodda/obninsk-map/tree/main</a:t>
            </a:r>
          </a:p>
          <a:p>
            <a:r>
              <a:t>Актуальность проекта: показать понятную связь между местами в городе и работой организаций. Это обоснование образовательной пользы, а не результат опроса жителей.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 проекта: https://github.com/mgyodda/obninsk-map/tree/main</a:t>
            </a:r>
          </a:p>
          <a:p>
            <a:r>
              <a:t>Задачи отражают содержание и возможности текущего проекта. Материалы охватывают избранные организации, поэтому проект не претендует на полноту городского справочника.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 проекта: https://github.com/mgyodda/obninsk-map/tree/main</a:t>
            </a:r>
          </a:p>
          <a:p>
            <a:r>
              <a:t>Источник: data.js. В файле 8 организаций, у каждой по 3 примера деятельности, всего 24. Группы приведены по полю group. Это подборка, а не полный перечень организаций Обнинска.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 проекта: https://github.com/mgyodda/obninsk-map/tree/main</a:t>
            </a:r>
          </a:p>
          <a:p>
            <a:r>
              <a:t>Источник: README.md, app.js и index.html. На компьютере карточка появляется при наведении на метку, на телефоне её можно открыть нажатием. Поиск учитывает название, адрес, отрасль и примеры продукции.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 проекта: https://github.com/mgyodda/obninsk-map/tree/main</a:t>
            </a:r>
          </a:p>
          <a:p>
            <a:r>
              <a:t>Сведения: data.js и https://www.admobninsk.ru/obninsk/gorod/scientific-centers/technologiya/</a:t>
            </a:r>
          </a:p>
          <a:p>
            <a:r>
              <a:t>Фото из проекта: ОНПП «Технология» / Администрация Обнинска, публикация 2025 года. Источник: https://admobninsk.ru/news/2025/10/24/news_34090.html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 проекта: https://github.com/mgyodda/obninsk-map/tree/main</a:t>
            </a:r>
          </a:p>
          <a:p>
            <a:r>
              <a:t>Этапы обобщают работу, отражённую в материалах проекта. Даты, длительность разработки и результаты пользовательских испытаний не заявляются: таких подтверждённых сведений в репозитории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 проекта: https://github.com/mgyodda/obninsk-map/tree/main</a:t>
            </a:r>
          </a:p>
          <a:p>
            <a:r>
              <a:t>Практическая польза описывает возможные способы применения. Расширение списка и обновление материалов являются предложениями по развитию, а не уже выполненными работами.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 проекта: https://github.com/mgyodda/obninsk-map/tree/main</a:t>
            </a:r>
          </a:p>
          <a:p>
            <a:r>
              <a:t>Результат подтверждается структурой и содержанием репозитория: карта, каталог, поиск, фильтры и карточки организаций. Концептуальный фон создан с помощью ИИ и не воспроизводит реальную географию города.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bninskmap.github.io/index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2199993-36C0-4856-B4CC-F22E637310CF}"/>
              </a:ext>
            </a:extLst>
          </p:cNvPr>
          <p:cNvSpPr>
            <a:spLocks noGrp="1"/>
          </p:cNvSpPr>
          <p:nvPr/>
        </p:nvSpPr>
        <p:spPr>
          <a:xfrm>
            <a:off x="685800" y="1733550"/>
            <a:ext cx="7858125" cy="1666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50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Интерактивная</a:t>
            </a:r>
          </a:p>
          <a:p>
            <a:pPr>
              <a:defRPr sz="450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450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карта Обнинска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7B71157-9367-49E2-A181-4017FC4A9270}"/>
              </a:ext>
            </a:extLst>
          </p:cNvPr>
          <p:cNvSpPr>
            <a:spLocks noGrp="1"/>
          </p:cNvSpPr>
          <p:nvPr/>
        </p:nvSpPr>
        <p:spPr>
          <a:xfrm>
            <a:off x="723900" y="3714750"/>
            <a:ext cx="6667500" cy="1000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Научные организации</a:t>
            </a:r>
          </a:p>
          <a:p>
            <a:pPr>
              <a:defRPr sz="2325" b="0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и предприятия города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7D107A5-7E59-4EEA-A199-859016D8F07E}"/>
              </a:ext>
            </a:extLst>
          </p:cNvPr>
          <p:cNvSpPr>
            <a:spLocks noGrp="1"/>
          </p:cNvSpPr>
          <p:nvPr/>
        </p:nvSpPr>
        <p:spPr>
          <a:xfrm>
            <a:off x="723900" y="5762625"/>
            <a:ext cx="57150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ADC2C3"/>
                </a:solidFill>
                <a:latin typeface="DejaVu Sans"/>
                <a:ea typeface="DejaVu Sans"/>
                <a:cs typeface="DejaVu Sans"/>
              </a:defRPr>
            </a:pPr>
            <a:endParaRPr sz="1500" b="0" dirty="0">
              <a:solidFill>
                <a:srgbClr val="ADC2C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Subtle perimeter outline">
            <a:extLst>
              <a:ext uri="{FF2B5EF4-FFF2-40B4-BE49-F238E27FC236}">
                <a16:creationId xmlns:a16="http://schemas.microsoft.com/office/drawing/2014/main" id="{C5C0FC45-A18A-43B8-9044-337BE2CB018E}"/>
              </a:ext>
            </a:extLst>
          </p:cNvPr>
          <p:cNvSpPr/>
          <p:nvPr/>
        </p:nvSpPr>
        <p:spPr>
          <a:xfrm>
            <a:off x="139700" y="139700"/>
            <a:ext cx="11912600" cy="6578600"/>
          </a:xfrm>
          <a:prstGeom prst="rect">
            <a:avLst/>
          </a:prstGeom>
          <a:noFill/>
          <a:ln w="10160">
            <a:solidFill>
              <a:srgbClr val="52776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6143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I generated background" descr="preencoded.pn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8AFC9AE-CAB8-4F12-94A1-1C81009DA7DD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8204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Актуальность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175B326-AB98-4F82-8989-B37097A133A6}"/>
              </a:ext>
            </a:extLst>
          </p:cNvPr>
          <p:cNvSpPr>
            <a:spLocks noGrp="1"/>
          </p:cNvSpPr>
          <p:nvPr/>
        </p:nvSpPr>
        <p:spPr>
          <a:xfrm>
            <a:off x="10953750" y="6296025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endParaRPr sz="1200" b="0" dirty="0">
              <a:solidFill>
                <a:srgbClr val="197961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BB47531-4915-4BC5-AE34-25FC0958944C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504825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Знакомство с городом</a:t>
            </a:r>
          </a:p>
          <a:p>
            <a:pPr>
              <a:defRPr sz="28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через его предприятия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FFE3960-238F-45A6-98B4-710137B2EA2B}"/>
              </a:ext>
            </a:extLst>
          </p:cNvPr>
          <p:cNvSpPr>
            <a:spLocks noGrp="1"/>
          </p:cNvSpPr>
          <p:nvPr/>
        </p:nvSpPr>
        <p:spPr>
          <a:xfrm>
            <a:off x="6477000" y="1714500"/>
            <a:ext cx="4953000" cy="1381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Названия организаций не всегда объясняют, чем они занимаются и какую пользу приносит их работа.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B52E179-AF5F-4572-B49E-10396D09D8D7}"/>
              </a:ext>
            </a:extLst>
          </p:cNvPr>
          <p:cNvSpPr>
            <a:spLocks noGrp="1"/>
          </p:cNvSpPr>
          <p:nvPr/>
        </p:nvSpPr>
        <p:spPr>
          <a:xfrm>
            <a:off x="6477000" y="3524250"/>
            <a:ext cx="4953000" cy="1285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Карта связывает расположение предприятия с его историей и примерами продукции.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D5278D9-003B-4532-BFCE-86A00084DFDB}"/>
              </a:ext>
            </a:extLst>
          </p:cNvPr>
          <p:cNvSpPr>
            <a:spLocks noGrp="1"/>
          </p:cNvSpPr>
          <p:nvPr/>
        </p:nvSpPr>
        <p:spPr>
          <a:xfrm>
            <a:off x="685800" y="5000625"/>
            <a:ext cx="10287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 dirty="0" err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Такой</a:t>
            </a:r>
            <a:r>
              <a:rPr sz="2100" b="0" dirty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формат</a:t>
            </a:r>
            <a:r>
              <a:rPr sz="2100" b="0" dirty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подходит</a:t>
            </a:r>
            <a:r>
              <a:rPr sz="2100" b="0" dirty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для</a:t>
            </a:r>
            <a:r>
              <a:rPr sz="2100" b="0" dirty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изучения</a:t>
            </a:r>
            <a:r>
              <a:rPr sz="2100" b="0" dirty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родного</a:t>
            </a:r>
            <a:r>
              <a:rPr sz="2100" b="0" dirty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 </a:t>
            </a:r>
            <a:r>
              <a:rPr sz="2100" b="0" dirty="0" err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края</a:t>
            </a:r>
            <a:r>
              <a:rPr sz="2100" b="0" dirty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 и </a:t>
            </a:r>
            <a:r>
              <a:rPr sz="2100" b="0" dirty="0" err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знакомства</a:t>
            </a:r>
            <a:r>
              <a:rPr sz="2100" b="0" dirty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 с </a:t>
            </a:r>
            <a:r>
              <a:rPr sz="2100" b="0" dirty="0" err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профессиями</a:t>
            </a:r>
            <a:r>
              <a:rPr sz="2100" b="0" dirty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270990-8883-484A-B6FF-1F3AADD4F1EE}"/>
              </a:ext>
            </a:extLst>
          </p:cNvPr>
          <p:cNvSpPr txBox="1"/>
          <p:nvPr/>
        </p:nvSpPr>
        <p:spPr>
          <a:xfrm>
            <a:off x="10953750" y="6296025"/>
            <a:ext cx="552450" cy="266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ru-RU" sz="900">
                <a:solidFill>
                  <a:srgbClr val="117C68"/>
                </a:solidFill>
                <a:latin typeface="DejaVu Sans"/>
              </a:rPr>
              <a:t>02</a:t>
            </a:r>
          </a:p>
        </p:txBody>
      </p:sp>
      <p:sp>
        <p:nvSpPr>
          <p:cNvPr id="9" name="Subtle perimeter outline">
            <a:extLst>
              <a:ext uri="{FF2B5EF4-FFF2-40B4-BE49-F238E27FC236}">
                <a16:creationId xmlns:a16="http://schemas.microsoft.com/office/drawing/2014/main" id="{8943CEEE-AF05-4C68-A520-27B59D3AD5E6}"/>
              </a:ext>
            </a:extLst>
          </p:cNvPr>
          <p:cNvSpPr/>
          <p:nvPr/>
        </p:nvSpPr>
        <p:spPr>
          <a:xfrm>
            <a:off x="139700" y="139700"/>
            <a:ext cx="11912600" cy="6578600"/>
          </a:xfrm>
          <a:prstGeom prst="rect">
            <a:avLst/>
          </a:prstGeom>
          <a:noFill/>
          <a:ln w="8255">
            <a:solidFill>
              <a:srgbClr val="C7DCD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3991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AI generated background" descr="preencoded.pn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643D4ECC-95B1-4D24-87CD-C9E8F2E04AD9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8204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3000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Цель и задачи проекта</a:t>
            </a:r>
            <a:endParaRPr sz="3000" b="1">
              <a:solidFill>
                <a:srgbClr val="11272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A0CD4C3-6F70-46AA-9FDA-79BAB365C938}"/>
              </a:ext>
            </a:extLst>
          </p:cNvPr>
          <p:cNvSpPr>
            <a:spLocks noGrp="1"/>
          </p:cNvSpPr>
          <p:nvPr/>
        </p:nvSpPr>
        <p:spPr>
          <a:xfrm>
            <a:off x="10953750" y="6296025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endParaRPr sz="1200" b="0" dirty="0">
              <a:solidFill>
                <a:srgbClr val="197961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CF9E4CC-3391-4641-BFB7-5056EDBF142A}"/>
              </a:ext>
            </a:extLst>
          </p:cNvPr>
          <p:cNvSpPr>
            <a:spLocks noGrp="1"/>
          </p:cNvSpPr>
          <p:nvPr/>
        </p:nvSpPr>
        <p:spPr>
          <a:xfrm>
            <a:off x="704850" y="23622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anchor="ctr" anchorCtr="0">
            <a:noAutofit/>
          </a:bodyPr>
          <a:lstStyle/>
          <a:p>
            <a:pPr>
              <a:defRPr sz="210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1500" b="1">
                <a:solidFill>
                  <a:srgbClr val="117C68"/>
                </a:solidFill>
                <a:latin typeface="DejaVu Sans"/>
                <a:ea typeface="DejaVu Sans"/>
                <a:cs typeface="DejaVu Sans"/>
              </a:rPr>
              <a:t>01</a:t>
            </a:r>
            <a:endParaRPr sz="1500" b="1">
              <a:solidFill>
                <a:srgbClr val="117C6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F8A3B3A-2C15-4AF4-AAAA-062CC8F734B1}"/>
              </a:ext>
            </a:extLst>
          </p:cNvPr>
          <p:cNvSpPr>
            <a:spLocks noGrp="1"/>
          </p:cNvSpPr>
          <p:nvPr/>
        </p:nvSpPr>
        <p:spPr>
          <a:xfrm>
            <a:off x="1752600" y="2343150"/>
            <a:ext cx="9525000" cy="476250"/>
          </a:xfrm>
          <a:prstGeom prst="rect">
            <a:avLst/>
          </a:prstGeom>
          <a:noFill/>
          <a:ln w="0">
            <a:noFill/>
          </a:ln>
        </p:spPr>
        <p:txBody>
          <a:bodyPr wrap="none" anchor="ctr" anchorCtr="0">
            <a:noAutofit/>
          </a:bodyPr>
          <a:lstStyle/>
          <a:p>
            <a:pPr>
              <a:defRPr sz="21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170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Выбрать организации для карты</a:t>
            </a:r>
            <a:endParaRPr sz="1700">
              <a:solidFill>
                <a:srgbClr val="11272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9033ACD-6F7F-4B18-A713-4D8581D4061D}"/>
              </a:ext>
            </a:extLst>
          </p:cNvPr>
          <p:cNvSpPr>
            <a:spLocks noGrp="1"/>
          </p:cNvSpPr>
          <p:nvPr/>
        </p:nvSpPr>
        <p:spPr>
          <a:xfrm>
            <a:off x="704850" y="30099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anchor="ctr" anchorCtr="0">
            <a:noAutofit/>
          </a:bodyPr>
          <a:lstStyle/>
          <a:p>
            <a:pPr>
              <a:defRPr sz="210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1500" b="1">
                <a:solidFill>
                  <a:srgbClr val="117C68"/>
                </a:solidFill>
                <a:latin typeface="DejaVu Sans"/>
                <a:ea typeface="DejaVu Sans"/>
                <a:cs typeface="DejaVu Sans"/>
              </a:rPr>
              <a:t>02</a:t>
            </a:r>
            <a:endParaRPr sz="1500" b="1">
              <a:solidFill>
                <a:srgbClr val="117C6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8CF251B-FCA8-4AE0-BC99-C0965976F00B}"/>
              </a:ext>
            </a:extLst>
          </p:cNvPr>
          <p:cNvSpPr>
            <a:spLocks noGrp="1"/>
          </p:cNvSpPr>
          <p:nvPr/>
        </p:nvSpPr>
        <p:spPr>
          <a:xfrm>
            <a:off x="1752600" y="2990850"/>
            <a:ext cx="9525000" cy="476250"/>
          </a:xfrm>
          <a:prstGeom prst="rect">
            <a:avLst/>
          </a:prstGeom>
          <a:noFill/>
          <a:ln w="0">
            <a:noFill/>
          </a:ln>
        </p:spPr>
        <p:txBody>
          <a:bodyPr wrap="none" anchor="ctr" anchorCtr="0">
            <a:noAutofit/>
          </a:bodyPr>
          <a:lstStyle/>
          <a:p>
            <a:pPr>
              <a:defRPr sz="21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170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Собрать сведения, фотографии и источники</a:t>
            </a:r>
            <a:endParaRPr sz="1700">
              <a:solidFill>
                <a:srgbClr val="11272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7E49A96-0927-4E2D-A8F8-31B4259C0FA5}"/>
              </a:ext>
            </a:extLst>
          </p:cNvPr>
          <p:cNvSpPr>
            <a:spLocks noGrp="1"/>
          </p:cNvSpPr>
          <p:nvPr/>
        </p:nvSpPr>
        <p:spPr>
          <a:xfrm>
            <a:off x="704850" y="36576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anchor="ctr" anchorCtr="0">
            <a:noAutofit/>
          </a:bodyPr>
          <a:lstStyle/>
          <a:p>
            <a:pPr>
              <a:defRPr sz="210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1500" b="1">
                <a:solidFill>
                  <a:srgbClr val="117C68"/>
                </a:solidFill>
                <a:latin typeface="DejaVu Sans"/>
                <a:ea typeface="DejaVu Sans"/>
                <a:cs typeface="DejaVu Sans"/>
              </a:rPr>
              <a:t>03</a:t>
            </a:r>
            <a:endParaRPr sz="1500" b="1">
              <a:solidFill>
                <a:srgbClr val="117C6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125E6C4-A121-40A0-9EF5-79A6D9108B00}"/>
              </a:ext>
            </a:extLst>
          </p:cNvPr>
          <p:cNvSpPr>
            <a:spLocks noGrp="1"/>
          </p:cNvSpPr>
          <p:nvPr/>
        </p:nvSpPr>
        <p:spPr>
          <a:xfrm>
            <a:off x="1752600" y="3638550"/>
            <a:ext cx="9525000" cy="476250"/>
          </a:xfrm>
          <a:prstGeom prst="rect">
            <a:avLst/>
          </a:prstGeom>
          <a:noFill/>
          <a:ln w="0">
            <a:noFill/>
          </a:ln>
        </p:spPr>
        <p:txBody>
          <a:bodyPr wrap="none" anchor="ctr" anchorCtr="0">
            <a:noAutofit/>
          </a:bodyPr>
          <a:lstStyle/>
          <a:p>
            <a:pPr>
              <a:defRPr sz="21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170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Подготовить понятные описания</a:t>
            </a:r>
            <a:endParaRPr sz="1700">
              <a:solidFill>
                <a:srgbClr val="11272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D02C0E7-4A2A-4AA8-9B60-AE038001762B}"/>
              </a:ext>
            </a:extLst>
          </p:cNvPr>
          <p:cNvSpPr>
            <a:spLocks noGrp="1"/>
          </p:cNvSpPr>
          <p:nvPr/>
        </p:nvSpPr>
        <p:spPr>
          <a:xfrm>
            <a:off x="704850" y="43053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anchor="ctr" anchorCtr="0">
            <a:noAutofit/>
          </a:bodyPr>
          <a:lstStyle/>
          <a:p>
            <a:pPr>
              <a:defRPr sz="210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1500" b="1">
                <a:solidFill>
                  <a:srgbClr val="117C68"/>
                </a:solidFill>
                <a:latin typeface="DejaVu Sans"/>
                <a:ea typeface="DejaVu Sans"/>
                <a:cs typeface="DejaVu Sans"/>
              </a:rPr>
              <a:t>04</a:t>
            </a:r>
            <a:endParaRPr sz="1500" b="1">
              <a:solidFill>
                <a:srgbClr val="117C6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1FB8300-929A-4249-8EB5-C60AAAA2E710}"/>
              </a:ext>
            </a:extLst>
          </p:cNvPr>
          <p:cNvSpPr>
            <a:spLocks noGrp="1"/>
          </p:cNvSpPr>
          <p:nvPr/>
        </p:nvSpPr>
        <p:spPr>
          <a:xfrm>
            <a:off x="1752600" y="4286250"/>
            <a:ext cx="9525000" cy="476250"/>
          </a:xfrm>
          <a:prstGeom prst="rect">
            <a:avLst/>
          </a:prstGeom>
          <a:noFill/>
          <a:ln w="0">
            <a:noFill/>
          </a:ln>
        </p:spPr>
        <p:txBody>
          <a:bodyPr wrap="none" anchor="ctr" anchorCtr="0">
            <a:noAutofit/>
          </a:bodyPr>
          <a:lstStyle/>
          <a:p>
            <a:pPr>
              <a:defRPr sz="21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170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Добавить поиск и выбор по направлениям</a:t>
            </a:r>
            <a:endParaRPr sz="1700">
              <a:solidFill>
                <a:srgbClr val="11272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5CA4C78-2E59-4328-9D15-956C83E4F66E}"/>
              </a:ext>
            </a:extLst>
          </p:cNvPr>
          <p:cNvSpPr>
            <a:spLocks noGrp="1"/>
          </p:cNvSpPr>
          <p:nvPr/>
        </p:nvSpPr>
        <p:spPr>
          <a:xfrm>
            <a:off x="704850" y="4953000"/>
            <a:ext cx="666750" cy="438150"/>
          </a:xfrm>
          <a:prstGeom prst="rect">
            <a:avLst/>
          </a:prstGeom>
          <a:noFill/>
          <a:ln w="0">
            <a:noFill/>
          </a:ln>
        </p:spPr>
        <p:txBody>
          <a:bodyPr anchor="ctr" anchorCtr="0">
            <a:noAutofit/>
          </a:bodyPr>
          <a:lstStyle/>
          <a:p>
            <a:pPr>
              <a:defRPr sz="210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1500" b="1">
                <a:solidFill>
                  <a:srgbClr val="117C68"/>
                </a:solidFill>
                <a:latin typeface="DejaVu Sans"/>
                <a:ea typeface="DejaVu Sans"/>
                <a:cs typeface="DejaVu Sans"/>
              </a:rPr>
              <a:t>05</a:t>
            </a:r>
            <a:endParaRPr sz="1500" b="1">
              <a:solidFill>
                <a:srgbClr val="117C68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2742E26-3B37-4B82-8002-F84F9D8C407C}"/>
              </a:ext>
            </a:extLst>
          </p:cNvPr>
          <p:cNvSpPr>
            <a:spLocks noGrp="1"/>
          </p:cNvSpPr>
          <p:nvPr/>
        </p:nvSpPr>
        <p:spPr>
          <a:xfrm>
            <a:off x="1752600" y="4933950"/>
            <a:ext cx="9525000" cy="476250"/>
          </a:xfrm>
          <a:prstGeom prst="rect">
            <a:avLst/>
          </a:prstGeom>
          <a:noFill/>
          <a:ln w="0">
            <a:noFill/>
          </a:ln>
        </p:spPr>
        <p:txBody>
          <a:bodyPr wrap="none" anchor="ctr" anchorCtr="0">
            <a:noAutofit/>
          </a:bodyPr>
          <a:lstStyle/>
          <a:p>
            <a:pPr>
              <a:defRPr sz="21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170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Сделать удобный просмотр на компьютере и телефоне</a:t>
            </a:r>
            <a:endParaRPr sz="1700">
              <a:solidFill>
                <a:srgbClr val="112720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E271156-D757-4E95-B484-DD6DFA24FBBB}"/>
              </a:ext>
            </a:extLst>
          </p:cNvPr>
          <p:cNvSpPr/>
          <p:nvPr/>
        </p:nvSpPr>
        <p:spPr>
          <a:xfrm>
            <a:off x="704850" y="1409700"/>
            <a:ext cx="800100" cy="381000"/>
          </a:xfrm>
          <a:prstGeom prst="rect">
            <a:avLst/>
          </a:prstGeom>
          <a:solidFill>
            <a:srgbClr val="117C68"/>
          </a:solidFill>
          <a:ln w="19050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ru-RU" sz="1200" b="1">
                <a:solidFill>
                  <a:srgbClr val="FFFFFF"/>
                </a:solidFill>
                <a:latin typeface="DejaVu Sans"/>
              </a:rPr>
              <a:t>ЦЕЛЬ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E168AA-4DC7-41AB-936E-5108E3B53F92}"/>
              </a:ext>
            </a:extLst>
          </p:cNvPr>
          <p:cNvSpPr txBox="1"/>
          <p:nvPr/>
        </p:nvSpPr>
        <p:spPr>
          <a:xfrm>
            <a:off x="1752600" y="1333500"/>
            <a:ext cx="9525000" cy="8001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ru-RU" sz="1700" b="1" dirty="0">
                <a:solidFill>
                  <a:srgbClr val="112720"/>
                </a:solidFill>
                <a:latin typeface="DejaVu Sans"/>
              </a:rPr>
              <a:t>Создать понятную интерактивную карту научных организаций и предприятий Обнинска, чтобы школьники и жители могли узнать, где они находятся и чем занимаются.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ED203A-ED79-48C8-87C2-B5E18F071966}"/>
              </a:ext>
            </a:extLst>
          </p:cNvPr>
          <p:cNvSpPr txBox="1"/>
          <p:nvPr/>
        </p:nvSpPr>
        <p:spPr>
          <a:xfrm>
            <a:off x="10953750" y="6296025"/>
            <a:ext cx="552450" cy="266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ru-RU" sz="900">
                <a:solidFill>
                  <a:srgbClr val="117C68"/>
                </a:solidFill>
                <a:latin typeface="DejaVu Sans"/>
              </a:rPr>
              <a:t>03</a:t>
            </a:r>
          </a:p>
        </p:txBody>
      </p:sp>
      <p:sp>
        <p:nvSpPr>
          <p:cNvPr id="17" name="Subtle perimeter outline">
            <a:extLst>
              <a:ext uri="{FF2B5EF4-FFF2-40B4-BE49-F238E27FC236}">
                <a16:creationId xmlns:a16="http://schemas.microsoft.com/office/drawing/2014/main" id="{44EEE82C-E18B-45FC-A2AE-CD25BF31F495}"/>
              </a:ext>
            </a:extLst>
          </p:cNvPr>
          <p:cNvSpPr/>
          <p:nvPr/>
        </p:nvSpPr>
        <p:spPr>
          <a:xfrm>
            <a:off x="139700" y="139700"/>
            <a:ext cx="11912600" cy="6578600"/>
          </a:xfrm>
          <a:prstGeom prst="rect">
            <a:avLst/>
          </a:prstGeom>
          <a:noFill/>
          <a:ln w="8255">
            <a:solidFill>
              <a:srgbClr val="C7DCD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0622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AI generated background" descr="preencoded.pn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36A342C-6644-46E7-98F5-62CC8BC9B464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8204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Что представлено на карте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0F7ED8F-27DA-4918-8816-2C80502FCA34}"/>
              </a:ext>
            </a:extLst>
          </p:cNvPr>
          <p:cNvSpPr>
            <a:spLocks noGrp="1"/>
          </p:cNvSpPr>
          <p:nvPr/>
        </p:nvSpPr>
        <p:spPr>
          <a:xfrm>
            <a:off x="10953750" y="6296025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ADC2C3"/>
                </a:solidFill>
                <a:latin typeface="DejaVu Sans"/>
                <a:ea typeface="DejaVu Sans"/>
                <a:cs typeface="DejaVu Sans"/>
              </a:defRPr>
            </a:pPr>
            <a:endParaRPr sz="1200" b="0" dirty="0">
              <a:solidFill>
                <a:srgbClr val="ADC2C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AD94E34-7B87-4AB1-8D90-A9CF4EE60063}"/>
              </a:ext>
            </a:extLst>
          </p:cNvPr>
          <p:cNvSpPr>
            <a:spLocks noGrp="1"/>
          </p:cNvSpPr>
          <p:nvPr/>
        </p:nvSpPr>
        <p:spPr>
          <a:xfrm>
            <a:off x="714375" y="1666875"/>
            <a:ext cx="1619250" cy="1381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8400" b="1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lang="ru-RU" sz="8400" b="1" dirty="0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4</a:t>
            </a:r>
            <a:endParaRPr sz="8400" b="1" dirty="0">
              <a:solidFill>
                <a:srgbClr val="9EF4CD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58D99EE-1FD0-46AA-909F-4113F75D34DA}"/>
              </a:ext>
            </a:extLst>
          </p:cNvPr>
          <p:cNvSpPr>
            <a:spLocks noGrp="1"/>
          </p:cNvSpPr>
          <p:nvPr/>
        </p:nvSpPr>
        <p:spPr>
          <a:xfrm>
            <a:off x="762000" y="3048000"/>
            <a:ext cx="2571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организаций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0D5FDB6-2380-4E4D-BDF7-D7A41ED7B201}"/>
              </a:ext>
            </a:extLst>
          </p:cNvPr>
          <p:cNvSpPr>
            <a:spLocks noGrp="1"/>
          </p:cNvSpPr>
          <p:nvPr/>
        </p:nvSpPr>
        <p:spPr>
          <a:xfrm>
            <a:off x="714375" y="4038600"/>
            <a:ext cx="219075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6150" b="1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6150" b="1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2741ED0-5E57-4430-9516-F6F5E865B258}"/>
              </a:ext>
            </a:extLst>
          </p:cNvPr>
          <p:cNvSpPr>
            <a:spLocks noGrp="1"/>
          </p:cNvSpPr>
          <p:nvPr/>
        </p:nvSpPr>
        <p:spPr>
          <a:xfrm>
            <a:off x="762000" y="5191125"/>
            <a:ext cx="32385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примера работ</a:t>
            </a:r>
          </a:p>
          <a:p>
            <a:pPr>
              <a:defRPr sz="2025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и продукции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D237812-BDC2-4DEA-8B55-2A0A57A82968}"/>
              </a:ext>
            </a:extLst>
          </p:cNvPr>
          <p:cNvSpPr>
            <a:spLocks noGrp="1"/>
          </p:cNvSpPr>
          <p:nvPr/>
        </p:nvSpPr>
        <p:spPr>
          <a:xfrm>
            <a:off x="4524375" y="1685925"/>
            <a:ext cx="6667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Наука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E3BA80E-45B4-40D0-A6A5-D9B13C6D4252}"/>
              </a:ext>
            </a:extLst>
          </p:cNvPr>
          <p:cNvSpPr>
            <a:spLocks noGrp="1"/>
          </p:cNvSpPr>
          <p:nvPr/>
        </p:nvSpPr>
        <p:spPr>
          <a:xfrm>
            <a:off x="4524375" y="2238375"/>
            <a:ext cx="666750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 dirty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ФЭИ, НПО «</a:t>
            </a:r>
            <a:r>
              <a:rPr sz="2100" b="0" dirty="0" err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Тайфун</a:t>
            </a:r>
            <a:r>
              <a:rPr sz="2100" b="0" dirty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», НИФХИ </a:t>
            </a:r>
            <a:r>
              <a:rPr sz="2100" b="0" dirty="0" err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им</a:t>
            </a:r>
            <a:r>
              <a:rPr sz="2100" b="0" dirty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. </a:t>
            </a:r>
            <a:r>
              <a:rPr sz="2100" b="0" dirty="0" err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Карпова</a:t>
            </a:r>
            <a:endParaRPr sz="2100" b="0" dirty="0">
              <a:solidFill>
                <a:srgbClr val="EFF6F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08DE385-9DDD-4FC9-8314-0E9FE0B10AC2}"/>
              </a:ext>
            </a:extLst>
          </p:cNvPr>
          <p:cNvSpPr>
            <a:spLocks noGrp="1"/>
          </p:cNvSpPr>
          <p:nvPr/>
        </p:nvSpPr>
        <p:spPr>
          <a:xfrm>
            <a:off x="4524375" y="3219450"/>
            <a:ext cx="6667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Промышленность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13E13C8-1863-4FB3-8293-9801F2680E8B}"/>
              </a:ext>
            </a:extLst>
          </p:cNvPr>
          <p:cNvSpPr>
            <a:spLocks noGrp="1"/>
          </p:cNvSpPr>
          <p:nvPr/>
        </p:nvSpPr>
        <p:spPr>
          <a:xfrm>
            <a:off x="4524375" y="3743325"/>
            <a:ext cx="66675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 dirty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«</a:t>
            </a:r>
            <a:r>
              <a:rPr sz="2100" b="0" dirty="0" err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Технология</a:t>
            </a:r>
            <a:r>
              <a:rPr sz="2100" b="0" dirty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», 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089CEFB-0AC8-40F5-913C-B2B26D7AF1FB}"/>
              </a:ext>
            </a:extLst>
          </p:cNvPr>
          <p:cNvSpPr>
            <a:spLocks noGrp="1"/>
          </p:cNvSpPr>
          <p:nvPr/>
        </p:nvSpPr>
        <p:spPr>
          <a:xfrm>
            <a:off x="4524375" y="4867275"/>
            <a:ext cx="6667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endParaRPr sz="2100" b="1" dirty="0">
              <a:solidFill>
                <a:srgbClr val="9EF4CD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DAB30D3-3853-4103-B61A-853C6C26F9BB}"/>
              </a:ext>
            </a:extLst>
          </p:cNvPr>
          <p:cNvSpPr>
            <a:spLocks noGrp="1"/>
          </p:cNvSpPr>
          <p:nvPr/>
        </p:nvSpPr>
        <p:spPr>
          <a:xfrm>
            <a:off x="4524375" y="5381625"/>
            <a:ext cx="6667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endParaRPr sz="2100" b="0" dirty="0">
              <a:solidFill>
                <a:srgbClr val="EFF6F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0F1237-6DD7-4225-BFDC-D6B82E40EF95}"/>
              </a:ext>
            </a:extLst>
          </p:cNvPr>
          <p:cNvSpPr txBox="1"/>
          <p:nvPr/>
        </p:nvSpPr>
        <p:spPr>
          <a:xfrm>
            <a:off x="10953750" y="6296025"/>
            <a:ext cx="552450" cy="266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ru-RU" sz="900">
                <a:solidFill>
                  <a:srgbClr val="117C68"/>
                </a:solidFill>
                <a:latin typeface="DejaVu Sans"/>
              </a:rPr>
              <a:t>04</a:t>
            </a:r>
          </a:p>
        </p:txBody>
      </p:sp>
      <p:sp>
        <p:nvSpPr>
          <p:cNvPr id="15" name="Subtle perimeter outline">
            <a:extLst>
              <a:ext uri="{FF2B5EF4-FFF2-40B4-BE49-F238E27FC236}">
                <a16:creationId xmlns:a16="http://schemas.microsoft.com/office/drawing/2014/main" id="{FC305788-4931-47B3-B7D9-CC2BBC536E9A}"/>
              </a:ext>
            </a:extLst>
          </p:cNvPr>
          <p:cNvSpPr/>
          <p:nvPr/>
        </p:nvSpPr>
        <p:spPr>
          <a:xfrm>
            <a:off x="139700" y="139700"/>
            <a:ext cx="11912600" cy="6578600"/>
          </a:xfrm>
          <a:prstGeom prst="rect">
            <a:avLst/>
          </a:prstGeom>
          <a:noFill/>
          <a:ln w="10160">
            <a:solidFill>
              <a:srgbClr val="52776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508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AI generated background" descr="preencoded.pn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17C0007-FCDE-4FAF-B15B-74DE5E625FBC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8204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Как пользоваться картой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E6BAB1D-C810-4C11-A2DC-AED6E44F8E8A}"/>
              </a:ext>
            </a:extLst>
          </p:cNvPr>
          <p:cNvSpPr>
            <a:spLocks noGrp="1"/>
          </p:cNvSpPr>
          <p:nvPr/>
        </p:nvSpPr>
        <p:spPr>
          <a:xfrm>
            <a:off x="10953750" y="6296025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endParaRPr sz="1200" b="0" dirty="0">
              <a:solidFill>
                <a:srgbClr val="197961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980092F-6929-42ED-92DD-2FD87AF2F434}"/>
              </a:ext>
            </a:extLst>
          </p:cNvPr>
          <p:cNvSpPr>
            <a:spLocks noGrp="1"/>
          </p:cNvSpPr>
          <p:nvPr/>
        </p:nvSpPr>
        <p:spPr>
          <a:xfrm>
            <a:off x="685800" y="1781175"/>
            <a:ext cx="4905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1. Найти организацию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31C28F2-CD0A-4D7B-8627-8E910ABBB111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4810125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Выбрать метку или название в списке.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864B2CD-9AA7-4028-9134-49F8639BE44C}"/>
              </a:ext>
            </a:extLst>
          </p:cNvPr>
          <p:cNvSpPr>
            <a:spLocks noGrp="1"/>
          </p:cNvSpPr>
          <p:nvPr/>
        </p:nvSpPr>
        <p:spPr>
          <a:xfrm>
            <a:off x="6572250" y="1781175"/>
            <a:ext cx="4905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2. Уточнить выбор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4C67632-9E3D-4B2D-AE81-19E3DD73ED41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4810125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Воспользоваться поиском или фильтром.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B4AA644-0610-446E-B25B-029220BEF168}"/>
              </a:ext>
            </a:extLst>
          </p:cNvPr>
          <p:cNvSpPr>
            <a:spLocks noGrp="1"/>
          </p:cNvSpPr>
          <p:nvPr/>
        </p:nvSpPr>
        <p:spPr>
          <a:xfrm>
            <a:off x="685800" y="3838575"/>
            <a:ext cx="4905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3. Открыть сведения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DEFB989-FD09-4C27-9450-097FF7A0D893}"/>
              </a:ext>
            </a:extLst>
          </p:cNvPr>
          <p:cNvSpPr>
            <a:spLocks noGrp="1"/>
          </p:cNvSpPr>
          <p:nvPr/>
        </p:nvSpPr>
        <p:spPr>
          <a:xfrm>
            <a:off x="685800" y="4591050"/>
            <a:ext cx="4810125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Посмотреть историю, фото и примеры работ.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14F6FFD-6AA8-4785-82D1-30928B4749B1}"/>
              </a:ext>
            </a:extLst>
          </p:cNvPr>
          <p:cNvSpPr>
            <a:spLocks noGrp="1"/>
          </p:cNvSpPr>
          <p:nvPr/>
        </p:nvSpPr>
        <p:spPr>
          <a:xfrm>
            <a:off x="6572250" y="3838575"/>
            <a:ext cx="4905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4. Узнать больше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4D31D8B-83A4-401B-9A84-2D9CEBBC4B7C}"/>
              </a:ext>
            </a:extLst>
          </p:cNvPr>
          <p:cNvSpPr>
            <a:spLocks noGrp="1"/>
          </p:cNvSpPr>
          <p:nvPr/>
        </p:nvSpPr>
        <p:spPr>
          <a:xfrm>
            <a:off x="6572250" y="4591050"/>
            <a:ext cx="4810125" cy="1143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Перейти к указанным источникам.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77035C-A079-4D53-ABB1-8931EA17FA7A}"/>
              </a:ext>
            </a:extLst>
          </p:cNvPr>
          <p:cNvSpPr txBox="1"/>
          <p:nvPr/>
        </p:nvSpPr>
        <p:spPr>
          <a:xfrm>
            <a:off x="10953750" y="6296025"/>
            <a:ext cx="552450" cy="266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ru-RU" sz="900">
                <a:solidFill>
                  <a:srgbClr val="117C68"/>
                </a:solidFill>
                <a:latin typeface="DejaVu Sans"/>
              </a:rPr>
              <a:t>05</a:t>
            </a:r>
          </a:p>
        </p:txBody>
      </p:sp>
      <p:sp>
        <p:nvSpPr>
          <p:cNvPr id="13" name="Subtle perimeter outline">
            <a:extLst>
              <a:ext uri="{FF2B5EF4-FFF2-40B4-BE49-F238E27FC236}">
                <a16:creationId xmlns:a16="http://schemas.microsoft.com/office/drawing/2014/main" id="{624EAE48-BB88-4621-82DA-D1148F36E035}"/>
              </a:ext>
            </a:extLst>
          </p:cNvPr>
          <p:cNvSpPr/>
          <p:nvPr/>
        </p:nvSpPr>
        <p:spPr>
          <a:xfrm>
            <a:off x="139700" y="139700"/>
            <a:ext cx="11912600" cy="6578600"/>
          </a:xfrm>
          <a:prstGeom prst="rect">
            <a:avLst/>
          </a:prstGeom>
          <a:noFill/>
          <a:ln w="8255">
            <a:solidFill>
              <a:srgbClr val="C7DCD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4068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I generated background" descr="preencoded.pn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95936B9-84DD-47F7-BED1-6A34EF0E8482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8204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Пример: ОНПП «Технология»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A1C87D6-7C9F-4D82-983B-D36C9E0AA95D}"/>
              </a:ext>
            </a:extLst>
          </p:cNvPr>
          <p:cNvSpPr>
            <a:spLocks noGrp="1"/>
          </p:cNvSpPr>
          <p:nvPr/>
        </p:nvSpPr>
        <p:spPr>
          <a:xfrm>
            <a:off x="10953750" y="6296025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endParaRPr sz="1200" b="0" dirty="0">
              <a:solidFill>
                <a:srgbClr val="197961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4"/>
          <a:srcRect l="2872" r="2872"/>
          <a:stretch>
            <a:fillRect/>
          </a:stretch>
        </p:blipFill>
        <p:spPr>
          <a:xfrm>
            <a:off x="685800" y="1628775"/>
            <a:ext cx="5905500" cy="352425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5651444-DD5D-42B6-9B55-E0B1CC0643E4}"/>
              </a:ext>
            </a:extLst>
          </p:cNvPr>
          <p:cNvSpPr>
            <a:spLocks noGrp="1"/>
          </p:cNvSpPr>
          <p:nvPr/>
        </p:nvSpPr>
        <p:spPr>
          <a:xfrm>
            <a:off x="7191375" y="1704975"/>
            <a:ext cx="428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Чем занимается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4A56A1B-7321-4848-B977-C92992A1850C}"/>
              </a:ext>
            </a:extLst>
          </p:cNvPr>
          <p:cNvSpPr>
            <a:spLocks noGrp="1"/>
          </p:cNvSpPr>
          <p:nvPr/>
        </p:nvSpPr>
        <p:spPr>
          <a:xfrm>
            <a:off x="7191375" y="2286000"/>
            <a:ext cx="428625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Разрабатывает материалы и изделия для сложных инженерных задач.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2A1AC6C-8007-406C-BC5C-1EECE251634C}"/>
              </a:ext>
            </a:extLst>
          </p:cNvPr>
          <p:cNvSpPr>
            <a:spLocks noGrp="1"/>
          </p:cNvSpPr>
          <p:nvPr/>
        </p:nvSpPr>
        <p:spPr>
          <a:xfrm>
            <a:off x="7191375" y="4010025"/>
            <a:ext cx="42862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В карточке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CD5C7FC-AC5A-405D-8122-177375449BC3}"/>
              </a:ext>
            </a:extLst>
          </p:cNvPr>
          <p:cNvSpPr>
            <a:spLocks noGrp="1"/>
          </p:cNvSpPr>
          <p:nvPr/>
        </p:nvSpPr>
        <p:spPr>
          <a:xfrm>
            <a:off x="7191375" y="4572000"/>
            <a:ext cx="4286250" cy="1333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История предприятия, фотографии и примеры продукции.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A991CF1-D908-46B4-B2DB-87E25D1E6246}"/>
              </a:ext>
            </a:extLst>
          </p:cNvPr>
          <p:cNvSpPr>
            <a:spLocks noGrp="1"/>
          </p:cNvSpPr>
          <p:nvPr/>
        </p:nvSpPr>
        <p:spPr>
          <a:xfrm>
            <a:off x="685800" y="5457825"/>
            <a:ext cx="61912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Композиты, техническое стекло и керамика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5A3CBB-6E16-41E0-847B-CD51452E3173}"/>
              </a:ext>
            </a:extLst>
          </p:cNvPr>
          <p:cNvSpPr txBox="1"/>
          <p:nvPr/>
        </p:nvSpPr>
        <p:spPr>
          <a:xfrm>
            <a:off x="10953750" y="6296025"/>
            <a:ext cx="552450" cy="266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ru-RU" sz="900">
                <a:solidFill>
                  <a:srgbClr val="117C68"/>
                </a:solidFill>
                <a:latin typeface="DejaVu Sans"/>
              </a:rPr>
              <a:t>06</a:t>
            </a:r>
          </a:p>
        </p:txBody>
      </p:sp>
      <p:sp>
        <p:nvSpPr>
          <p:cNvPr id="10" name="Subtle perimeter outline">
            <a:extLst>
              <a:ext uri="{FF2B5EF4-FFF2-40B4-BE49-F238E27FC236}">
                <a16:creationId xmlns:a16="http://schemas.microsoft.com/office/drawing/2014/main" id="{27FC153B-A694-4882-AB8D-D4C49E5BD044}"/>
              </a:ext>
            </a:extLst>
          </p:cNvPr>
          <p:cNvSpPr/>
          <p:nvPr/>
        </p:nvSpPr>
        <p:spPr>
          <a:xfrm>
            <a:off x="139700" y="139700"/>
            <a:ext cx="11912600" cy="6578600"/>
          </a:xfrm>
          <a:prstGeom prst="rect">
            <a:avLst/>
          </a:prstGeom>
          <a:noFill/>
          <a:ln w="8255">
            <a:solidFill>
              <a:srgbClr val="C7DCD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7750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AI generated background" descr="preencoded.pn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26F6BB0-32EE-4672-B540-91C56035E92F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8204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Этапы создания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B478178-B227-43AB-B75A-7BBB9DD86DF8}"/>
              </a:ext>
            </a:extLst>
          </p:cNvPr>
          <p:cNvSpPr>
            <a:spLocks noGrp="1"/>
          </p:cNvSpPr>
          <p:nvPr/>
        </p:nvSpPr>
        <p:spPr>
          <a:xfrm>
            <a:off x="10953750" y="6296025"/>
            <a:ext cx="5524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endParaRPr sz="1200" b="0" dirty="0">
              <a:solidFill>
                <a:srgbClr val="197961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EA64A9F-AC2E-4485-B371-F3DF4AB902E8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71437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A407B94-CFF1-4335-9C90-A214FFF0786B}"/>
              </a:ext>
            </a:extLst>
          </p:cNvPr>
          <p:cNvSpPr>
            <a:spLocks noGrp="1"/>
          </p:cNvSpPr>
          <p:nvPr/>
        </p:nvSpPr>
        <p:spPr>
          <a:xfrm>
            <a:off x="1762125" y="1647825"/>
            <a:ext cx="9620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Подбор материалов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946394F-DE2F-4BC4-BE6F-7EA0CAA66791}"/>
              </a:ext>
            </a:extLst>
          </p:cNvPr>
          <p:cNvSpPr>
            <a:spLocks noGrp="1"/>
          </p:cNvSpPr>
          <p:nvPr/>
        </p:nvSpPr>
        <p:spPr>
          <a:xfrm>
            <a:off x="1762125" y="2124075"/>
            <a:ext cx="9620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Выбор организаций, сбор описаний и фотографий.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895F19F-EF23-44D1-B6D5-08CB390E9046}"/>
              </a:ext>
            </a:extLst>
          </p:cNvPr>
          <p:cNvSpPr>
            <a:spLocks noGrp="1"/>
          </p:cNvSpPr>
          <p:nvPr/>
        </p:nvSpPr>
        <p:spPr>
          <a:xfrm>
            <a:off x="685800" y="2771775"/>
            <a:ext cx="71437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052EABA-2477-47D6-8364-9F1EF644B091}"/>
              </a:ext>
            </a:extLst>
          </p:cNvPr>
          <p:cNvSpPr>
            <a:spLocks noGrp="1"/>
          </p:cNvSpPr>
          <p:nvPr/>
        </p:nvSpPr>
        <p:spPr>
          <a:xfrm>
            <a:off x="1762125" y="2752725"/>
            <a:ext cx="9620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Подготовка содержания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44339EC-0FC8-4DDA-AFF9-594A9F139738}"/>
              </a:ext>
            </a:extLst>
          </p:cNvPr>
          <p:cNvSpPr>
            <a:spLocks noGrp="1"/>
          </p:cNvSpPr>
          <p:nvPr/>
        </p:nvSpPr>
        <p:spPr>
          <a:xfrm>
            <a:off x="1762125" y="3228975"/>
            <a:ext cx="9620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Краткие тексты об истории и деятельности.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4F71981-063E-48F3-881E-344C243AE74D}"/>
              </a:ext>
            </a:extLst>
          </p:cNvPr>
          <p:cNvSpPr>
            <a:spLocks noGrp="1"/>
          </p:cNvSpPr>
          <p:nvPr/>
        </p:nvSpPr>
        <p:spPr>
          <a:xfrm>
            <a:off x="685800" y="3876675"/>
            <a:ext cx="71437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70ECF83-5D17-499C-8D7E-B718AA012112}"/>
              </a:ext>
            </a:extLst>
          </p:cNvPr>
          <p:cNvSpPr>
            <a:spLocks noGrp="1"/>
          </p:cNvSpPr>
          <p:nvPr/>
        </p:nvSpPr>
        <p:spPr>
          <a:xfrm>
            <a:off x="1762125" y="3857625"/>
            <a:ext cx="9620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Создание карты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E386716-D532-4E9C-BAFD-B7D1962BD6AF}"/>
              </a:ext>
            </a:extLst>
          </p:cNvPr>
          <p:cNvSpPr>
            <a:spLocks noGrp="1"/>
          </p:cNvSpPr>
          <p:nvPr/>
        </p:nvSpPr>
        <p:spPr>
          <a:xfrm>
            <a:off x="1762125" y="4333875"/>
            <a:ext cx="9620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Размещение меток, карточек, поиска и фильтров.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91076D8-A434-4621-85EC-B5B59E1C495B}"/>
              </a:ext>
            </a:extLst>
          </p:cNvPr>
          <p:cNvSpPr>
            <a:spLocks noGrp="1"/>
          </p:cNvSpPr>
          <p:nvPr/>
        </p:nvSpPr>
        <p:spPr>
          <a:xfrm>
            <a:off x="685800" y="4981575"/>
            <a:ext cx="714375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625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B0CD2B6-F507-4895-8F14-CAAD6BA4F203}"/>
              </a:ext>
            </a:extLst>
          </p:cNvPr>
          <p:cNvSpPr>
            <a:spLocks noGrp="1"/>
          </p:cNvSpPr>
          <p:nvPr/>
        </p:nvSpPr>
        <p:spPr>
          <a:xfrm>
            <a:off x="1762125" y="4962525"/>
            <a:ext cx="9620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Доработка оформления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D0F6EF6-184C-4A64-A323-28B7E1608FFE}"/>
              </a:ext>
            </a:extLst>
          </p:cNvPr>
          <p:cNvSpPr>
            <a:spLocks noGrp="1"/>
          </p:cNvSpPr>
          <p:nvPr/>
        </p:nvSpPr>
        <p:spPr>
          <a:xfrm>
            <a:off x="1762125" y="5438775"/>
            <a:ext cx="96202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Удобный просмотр сведений и фотографий на разных экранах.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A179DA-1950-4650-A8D6-ABFF3F3AFCF5}"/>
              </a:ext>
            </a:extLst>
          </p:cNvPr>
          <p:cNvSpPr txBox="1"/>
          <p:nvPr/>
        </p:nvSpPr>
        <p:spPr>
          <a:xfrm>
            <a:off x="10953750" y="6296025"/>
            <a:ext cx="552450" cy="266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ru-RU" sz="900">
                <a:solidFill>
                  <a:srgbClr val="117C68"/>
                </a:solidFill>
                <a:latin typeface="DejaVu Sans"/>
              </a:rPr>
              <a:t>07</a:t>
            </a:r>
          </a:p>
        </p:txBody>
      </p:sp>
      <p:sp>
        <p:nvSpPr>
          <p:cNvPr id="17" name="Subtle perimeter outline">
            <a:extLst>
              <a:ext uri="{FF2B5EF4-FFF2-40B4-BE49-F238E27FC236}">
                <a16:creationId xmlns:a16="http://schemas.microsoft.com/office/drawing/2014/main" id="{5580C8B2-57CD-4ECF-B1CC-B6A3155E5CEF}"/>
              </a:ext>
            </a:extLst>
          </p:cNvPr>
          <p:cNvSpPr/>
          <p:nvPr/>
        </p:nvSpPr>
        <p:spPr>
          <a:xfrm>
            <a:off x="139700" y="139700"/>
            <a:ext cx="11912600" cy="6578600"/>
          </a:xfrm>
          <a:prstGeom prst="rect">
            <a:avLst/>
          </a:prstGeom>
          <a:noFill/>
          <a:ln w="8255">
            <a:solidFill>
              <a:srgbClr val="C7DCD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6513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AI generated background" descr="preencoded.png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A3B16F0-57E1-4AE8-AC78-5533554BEA98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08204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Практическая польза и развитие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ACBD43A-4CF5-4ABD-8E8C-E1CEBD59D10A}"/>
              </a:ext>
            </a:extLst>
          </p:cNvPr>
          <p:cNvSpPr>
            <a:spLocks noGrp="1"/>
          </p:cNvSpPr>
          <p:nvPr/>
        </p:nvSpPr>
        <p:spPr>
          <a:xfrm>
            <a:off x="685800" y="177165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Применение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EF606BD-3FCE-41C3-BFA6-51E1FFAF0ACE}"/>
              </a:ext>
            </a:extLst>
          </p:cNvPr>
          <p:cNvSpPr>
            <a:spLocks noGrp="1"/>
          </p:cNvSpPr>
          <p:nvPr/>
        </p:nvSpPr>
        <p:spPr>
          <a:xfrm>
            <a:off x="685800" y="2514600"/>
            <a:ext cx="5095875" cy="2381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Материал для уроков краеведения</a:t>
            </a:r>
          </a:p>
          <a:p>
            <a:pPr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и школьных выступлений.</a:t>
            </a:r>
          </a:p>
          <a:p>
            <a:endParaRPr sz="2025" b="0">
              <a:solidFill>
                <a:srgbClr val="112720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Знакомство с направлениями науки</a:t>
            </a:r>
          </a:p>
          <a:p>
            <a:pPr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и производства в своём городе.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E6C5CFB-6CB8-4008-B0A0-B2E13D95810D}"/>
              </a:ext>
            </a:extLst>
          </p:cNvPr>
          <p:cNvSpPr>
            <a:spLocks noGrp="1"/>
          </p:cNvSpPr>
          <p:nvPr/>
        </p:nvSpPr>
        <p:spPr>
          <a:xfrm>
            <a:off x="6648450" y="1771650"/>
            <a:ext cx="4953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197961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97961"/>
                </a:solidFill>
                <a:latin typeface="DejaVu Sans"/>
                <a:ea typeface="DejaVu Sans"/>
                <a:cs typeface="DejaVu Sans"/>
              </a:rPr>
              <a:t>Дальнейшие шаги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1FF76E0-6049-4728-8E4A-7FBEE202D151}"/>
              </a:ext>
            </a:extLst>
          </p:cNvPr>
          <p:cNvSpPr>
            <a:spLocks noGrp="1"/>
          </p:cNvSpPr>
          <p:nvPr/>
        </p:nvSpPr>
        <p:spPr>
          <a:xfrm>
            <a:off x="6648450" y="2514600"/>
            <a:ext cx="4857750" cy="2381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Добавить новые организации.</a:t>
            </a:r>
          </a:p>
          <a:p>
            <a:endParaRPr sz="2025" b="0">
              <a:solidFill>
                <a:srgbClr val="112720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Дополнить фотографии и описания.</a:t>
            </a:r>
          </a:p>
          <a:p>
            <a:endParaRPr sz="2025" b="0">
              <a:solidFill>
                <a:srgbClr val="112720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12720"/>
                </a:solidFill>
                <a:latin typeface="DejaVu Sans"/>
                <a:ea typeface="DejaVu Sans"/>
                <a:cs typeface="DejaVu Sans"/>
              </a:rPr>
              <a:t>Обновлять сведения по источникам.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FFFA4F9-ACE7-4ECA-8D45-E2A34B4C0432}"/>
              </a:ext>
            </a:extLst>
          </p:cNvPr>
          <p:cNvSpPr>
            <a:spLocks noGrp="1"/>
          </p:cNvSpPr>
          <p:nvPr/>
        </p:nvSpPr>
        <p:spPr>
          <a:xfrm>
            <a:off x="685800" y="5562600"/>
            <a:ext cx="10763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12720"/>
                </a:solidFill>
                <a:latin typeface="DejaVu Sans"/>
                <a:ea typeface="DejaVu Sans"/>
                <a:cs typeface="DejaVu Sans"/>
              </a:defRPr>
            </a:pPr>
            <a:r>
              <a:rPr lang="en-US" u="sng">
                <a:solidFill>
                  <a:srgbClr val="366D87"/>
                </a:solidFill>
                <a:latin typeface="DejaVu Sans"/>
                <a:ea typeface="DejaVu Sans"/>
                <a:cs typeface="DejaVu Sans"/>
                <a:hlinkClick r:id="rId4" tooltip="Открыть интерактивную карту Обнинска"/>
              </a:rPr>
              <a:t>https://obninskmap.github.io/index/</a:t>
            </a:r>
            <a:endParaRPr b="0" u="sng" dirty="0">
              <a:solidFill>
                <a:srgbClr val="366D8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76F458-2275-48ED-9210-99206DCC363D}"/>
              </a:ext>
            </a:extLst>
          </p:cNvPr>
          <p:cNvSpPr txBox="1"/>
          <p:nvPr/>
        </p:nvSpPr>
        <p:spPr>
          <a:xfrm>
            <a:off x="10953750" y="6296025"/>
            <a:ext cx="552450" cy="2667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ru-RU" sz="900">
                <a:solidFill>
                  <a:srgbClr val="117C68"/>
                </a:solidFill>
                <a:latin typeface="DejaVu Sans"/>
              </a:rPr>
              <a:t>08</a:t>
            </a:r>
          </a:p>
        </p:txBody>
      </p:sp>
      <p:sp>
        <p:nvSpPr>
          <p:cNvPr id="10" name="Subtle perimeter outline">
            <a:extLst>
              <a:ext uri="{FF2B5EF4-FFF2-40B4-BE49-F238E27FC236}">
                <a16:creationId xmlns:a16="http://schemas.microsoft.com/office/drawing/2014/main" id="{4A72A0E4-5F78-46E5-B246-529B9CD43540}"/>
              </a:ext>
            </a:extLst>
          </p:cNvPr>
          <p:cNvSpPr/>
          <p:nvPr/>
        </p:nvSpPr>
        <p:spPr>
          <a:xfrm>
            <a:off x="139700" y="139700"/>
            <a:ext cx="11912600" cy="6578600"/>
          </a:xfrm>
          <a:prstGeom prst="rect">
            <a:avLst/>
          </a:prstGeom>
          <a:noFill/>
          <a:ln w="8255">
            <a:solidFill>
              <a:srgbClr val="C7DCD5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8447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20FFAEE-6BB2-433B-B83A-46F1DBA385B2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762000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Результат проекта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B8840DB-BF53-4BE2-964F-F946449E7405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7334250" cy="1714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Карта объединяет сведения</a:t>
            </a:r>
          </a:p>
          <a:p>
            <a:pPr>
              <a:defRPr sz="270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о предприятиях Обнинска</a:t>
            </a:r>
          </a:p>
          <a:p>
            <a:pPr>
              <a:defRPr sz="2700" b="1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в одном наглядном формате.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3C14DD7-C1EA-47FF-A6B7-A217C6C43839}"/>
              </a:ext>
            </a:extLst>
          </p:cNvPr>
          <p:cNvSpPr>
            <a:spLocks noGrp="1"/>
          </p:cNvSpPr>
          <p:nvPr/>
        </p:nvSpPr>
        <p:spPr>
          <a:xfrm>
            <a:off x="685800" y="4048125"/>
            <a:ext cx="5953125" cy="1095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Можно найти организацию</a:t>
            </a:r>
          </a:p>
          <a:p>
            <a:pPr>
              <a:defRPr sz="2175" b="0">
                <a:solidFill>
                  <a:srgbClr val="9EF4C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9EF4CD"/>
                </a:solidFill>
                <a:latin typeface="DejaVu Sans"/>
                <a:ea typeface="DejaVu Sans"/>
                <a:cs typeface="DejaVu Sans"/>
              </a:rPr>
              <a:t>и познакомиться с её работой.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80145D8-DE4F-4A48-A933-F31EC20B0E7E}"/>
              </a:ext>
            </a:extLst>
          </p:cNvPr>
          <p:cNvSpPr>
            <a:spLocks noGrp="1"/>
          </p:cNvSpPr>
          <p:nvPr/>
        </p:nvSpPr>
        <p:spPr>
          <a:xfrm>
            <a:off x="685800" y="5848350"/>
            <a:ext cx="61912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EFF6F3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EFF6F3"/>
                </a:solidFill>
                <a:latin typeface="DejaVu Sans"/>
                <a:ea typeface="DejaVu Sans"/>
                <a:cs typeface="DejaVu Sans"/>
              </a:rPr>
              <a:t>Спасибо за внимание</a:t>
            </a:r>
          </a:p>
        </p:txBody>
      </p:sp>
      <p:sp>
        <p:nvSpPr>
          <p:cNvPr id="7" name="Subtle perimeter outline">
            <a:extLst>
              <a:ext uri="{FF2B5EF4-FFF2-40B4-BE49-F238E27FC236}">
                <a16:creationId xmlns:a16="http://schemas.microsoft.com/office/drawing/2014/main" id="{93F37999-3240-4A6F-9C59-FC5C2991988B}"/>
              </a:ext>
            </a:extLst>
          </p:cNvPr>
          <p:cNvSpPr/>
          <p:nvPr/>
        </p:nvSpPr>
        <p:spPr>
          <a:xfrm>
            <a:off x="139700" y="139700"/>
            <a:ext cx="11912600" cy="6578600"/>
          </a:xfrm>
          <a:prstGeom prst="rect">
            <a:avLst/>
          </a:prstGeom>
          <a:noFill/>
          <a:ln w="10160">
            <a:solidFill>
              <a:srgbClr val="52776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678866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06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C4F0442-FDBD-4751-8BCF-09BF8179DD13}">
  <we:reference id="wa200010215" version="2.0.0.1" store="ru-RU" storeType="OMEX"/>
  <we:alternateReferences>
    <we:reference id="WA200010215" version="2.0.0.1" store="" storeType="OMEX"/>
  </we:alternateReferences>
  <we:properties>
    <we:property name="bps.codex_control.document_id" value="&quot;e10341ba-0cf6-4742-a7c7-7ae68af0aa1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778</Words>
  <Application>Microsoft Office PowerPoint</Application>
  <DocSecurity>0</DocSecurity>
  <PresentationFormat>Широкоэкранный</PresentationFormat>
  <Paragraphs>108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2" baseType="lpstr">
      <vt:lpstr>Aptos</vt:lpstr>
      <vt:lpstr>DejaVu Sans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Бещасть Аллилуя</cp:lastModifiedBy>
  <cp:revision>6</cp:revision>
  <dcterms:created xsi:type="dcterms:W3CDTF">2026-09-28T07:51:44Z</dcterms:created>
  <dcterms:modified xsi:type="dcterms:W3CDTF">2026-10-07T19:02:50Z</dcterms:modified>
</cp:coreProperties>
</file>