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65" r:id="rId10"/>
    <p:sldId id="275" r:id="rIdSources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6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6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Sources10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 https://github.com/mgyodda/obninsk-map/tree/main</a:t>
            </a:r>
          </a:p>
          <a:p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посвящён</a:t>
            </a:r>
            <a:r>
              <a:rPr dirty="0"/>
              <a:t> </a:t>
            </a:r>
            <a:r>
              <a:rPr dirty="0" err="1"/>
              <a:t>научным</a:t>
            </a:r>
            <a:r>
              <a:rPr dirty="0"/>
              <a:t> </a:t>
            </a:r>
            <a:r>
              <a:rPr dirty="0" err="1"/>
              <a:t>организациям</a:t>
            </a:r>
            <a:r>
              <a:rPr dirty="0"/>
              <a:t> и </a:t>
            </a:r>
            <a:r>
              <a:rPr dirty="0" err="1"/>
              <a:t>предприятиям</a:t>
            </a:r>
            <a:r>
              <a:rPr dirty="0"/>
              <a:t> </a:t>
            </a:r>
            <a:r>
              <a:rPr dirty="0" err="1"/>
              <a:t>Обнинска</a:t>
            </a:r>
            <a:r>
              <a:rPr dirty="0"/>
              <a:t>.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объединяет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расположение</a:t>
            </a:r>
            <a:r>
              <a:rPr dirty="0"/>
              <a:t> и </a:t>
            </a:r>
            <a:r>
              <a:rPr dirty="0" err="1"/>
              <a:t>краткие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деятельности</a:t>
            </a:r>
            <a:r>
              <a:rPr dirty="0"/>
              <a:t>. </a:t>
            </a:r>
            <a:r>
              <a:rPr dirty="0" err="1"/>
              <a:t>Фон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концептуальной</a:t>
            </a:r>
            <a:r>
              <a:rPr dirty="0"/>
              <a:t> ИИ-</a:t>
            </a:r>
            <a:r>
              <a:rPr dirty="0" err="1"/>
              <a:t>иллюстрацией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фотографией</a:t>
            </a:r>
            <a:r>
              <a:rPr dirty="0"/>
              <a:t> </a:t>
            </a:r>
            <a:r>
              <a:rPr dirty="0" err="1"/>
              <a:t>города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Актуальность проекта: показать понятную связь между местами в городе и работой организаций. Это обоснование образовательной пользы, а не результат опроса жителей.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Задачи отражают содержание и возможности текущего проекта. Материалы охватывают избранные организации, поэтому проект не претендует на полноту городского справочника.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Источник: data.js. В файле 8 организаций, у каждой по 3 примера деятельности, всего 24. Группы приведены по полю group. Это подборка, а не полный перечень организаций Обнинска.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Источник: README.md, app.js и index.html. На компьютере карточка появляется при наведении на метку, на телефоне её можно открыть нажатием. Поиск учитывает название, адрес, отрасль и примеры продукции.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Сведения: data.js и https://www.admobninsk.ru/obninsk/gorod/scientific-centers/technologiya/</a:t>
            </a:r>
          </a:p>
          <a:p>
            <a:r>
              <a:t>Фото из проекта: ОНПП «Технология» / Администрация Обнинска, публикация 2025 года. Источник: https://admobninsk.ru/news/2025/10/24/news_34090.html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Этапы обобщают работу, отражённую в материалах проекта. Даты, длительность разработки и результаты пользовательских испытаний не заявляются: таких подтверждённых сведений в репозитории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Практическая польза описывает возможные способы применения. Расширение списка и обновление материалов являются предложениями по развитию, а не уже выполненными работами.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Результат подтверждается структурой и содержанием репозитория: карта, каталог, поиск, фильтры и карточки организаций. Концептуальный фон создан с помощью ИИ и не воспроизводит реальную географию города.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сведений и фотографий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ФЭИ: официальный сайт (ippe.ru)</a:t>
            </a:r>
          </a:p>
          <a:p xmlns:a="http://schemas.openxmlformats.org/drawingml/2006/main">
            <a:r>
              <a:t>https://www.ippe.ru/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ФЭИ: экспериментальная база и фото</a:t>
            </a:r>
          </a:p>
          <a:p xmlns:a="http://schemas.openxmlformats.org/drawingml/2006/main">
            <a:r>
              <a:t>https://www.ippe.ru/facilities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ФЭИ: быстрый реактор БН-600</a:t>
            </a:r>
          </a:p>
          <a:p xmlns:a="http://schemas.openxmlformats.org/drawingml/2006/main">
            <a:r>
              <a:t>https://www.ippe.ru/realized-projects/fast-neutrons-reactors/269-bn-600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ФЭИ: быстрый реактор БН-800</a:t>
            </a:r>
          </a:p>
          <a:p xmlns:a="http://schemas.openxmlformats.org/drawingml/2006/main">
            <a:r>
              <a:t>https://www.ippe.ru/realized-projects/fast-neutrons-reactors/270-bn800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ФЭИ: исследования на стендах БФС</a:t>
            </a:r>
          </a:p>
          <a:p xmlns:a="http://schemas.openxmlformats.org/drawingml/2006/main">
            <a:r>
              <a:t>https://www.ippe.ru/reactors/bfs-fast-critical-assembly/fast-reactor-bfs-researches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ФЭИ: жидкометаллический стенд 6Б</a:t>
            </a:r>
          </a:p>
          <a:p xmlns:a="http://schemas.openxmlformats.org/drawingml/2006/main">
            <a:r>
              <a:t>https://www.ippe.ru/npf-safety/facilities/heat-hydraulic-liquid-metal/178-6b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ФЭИ: научные отделения</a:t>
            </a:r>
          </a:p>
          <a:p xmlns:a="http://schemas.openxmlformats.org/drawingml/2006/main">
            <a:r>
              <a:t>https://www.ippe.ru/departments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Официальный сайт (technologiya.ru)</a:t>
            </a:r>
          </a:p>
          <a:p xmlns:a="http://schemas.openxmlformats.org/drawingml/2006/main">
            <a:r>
              <a:t>https://www.technologiya.ru/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Администрация Обнинска: предприятие</a:t>
            </a:r>
          </a:p>
          <a:p xmlns:a="http://schemas.openxmlformats.org/drawingml/2006/main">
            <a:r>
              <a:t>https://www.admobninsk.ru/obninsk/gorod/scientific-centers/technologiya/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Википедия: ОНПП «Технология»</a:t>
            </a:r>
          </a:p>
          <a:p xmlns:a="http://schemas.openxmlformats.org/drawingml/2006/main">
            <a:r>
              <a:t>https://ru.wikipedia.org/wiki/Технология_(обнинское_научно-производственное_предприятие)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Ассоциация «Наука»: карточка ГНЦ</a:t>
            </a:r>
          </a:p>
          <a:p xmlns:a="http://schemas.openxmlformats.org/drawingml/2006/main">
            <a:r>
              <a:t>https://agnc.ru/gnc/6198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Ростех: научные школы предприятия</a:t>
            </a:r>
          </a:p>
          <a:p xmlns:a="http://schemas.openxmlformats.org/drawingml/2006/main">
            <a:r>
              <a:t>https://rostec.ru/media/news/steklo-keramika-i-kompozity-tri-nauchnykh-kita-tekhnologii/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Администрация Обнинска: фото фасада</a:t>
            </a:r>
          </a:p>
          <a:p xmlns:a="http://schemas.openxmlformats.org/drawingml/2006/main">
            <a:r>
              <a:t>https://admobninsk.ru/news/2025/10/24/news_34090.html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Ростех: сотовые заполнители, фото</a:t>
            </a:r>
          </a:p>
          <a:p xmlns:a="http://schemas.openxmlformats.org/drawingml/2006/main">
            <a:r>
              <a:t>https://rostec.ru/media/news/sdelano-v-rostekhe-sotovye-zapolniteli/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Ростех: керамические материалы, фото</a:t>
            </a:r>
          </a:p>
          <a:p xmlns:a="http://schemas.openxmlformats.org/drawingml/2006/main">
            <a:r>
              <a:t>https://rostec.ru/media/news/onpp-tekhnologiya-obespechit-20-rossiyskogo-rynka-komplektuyushchikh-iz-kompozitsionnykh-keramichesk/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Ростех: остекление авиалайнеров, фото</a:t>
            </a:r>
          </a:p>
          <a:p xmlns:a="http://schemas.openxmlformats.org/drawingml/2006/main">
            <a:r>
              <a:t>https://rostec.ru/media/news/tekhnologiya-vnedryaet-innovatsionnyy-metod-proizvodstva-izdeliy-iz-organicheskogo-ostekleniya-dlya-/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Официальный сайт (rpatyphoon.ru)</a:t>
            </a:r>
          </a:p>
          <a:p xmlns:a="http://schemas.openxmlformats.org/drawingml/2006/main">
            <a:r>
              <a:t>https://www.rpatyphoon.ru/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НПО «Тайфун»: общие сведения</a:t>
            </a:r>
          </a:p>
          <a:p xmlns:a="http://schemas.openxmlformats.org/drawingml/2006/main">
            <a:r>
              <a:t>https://www.rpatyphoon.ru/about/info.php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НПО «Тайфун»: адрес и координаты</a:t>
            </a:r>
          </a:p>
          <a:p xmlns:a="http://schemas.openxmlformats.org/drawingml/2006/main">
            <a:r>
              <a:t>https://www.rpatyphoon.ru/contacts/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НПО «Тайфун»: мониторинг загрязнений</a:t>
            </a:r>
          </a:p>
          <a:p xmlns:a="http://schemas.openxmlformats.org/drawingml/2006/main">
            <a:r>
              <a:t>https://www.rpatyphoon.ru/activities/ecomonitoring/rgm.php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НПО «Тайфун»: история</a:t>
            </a:r>
          </a:p>
          <a:p xmlns:a="http://schemas.openxmlformats.org/drawingml/2006/main">
            <a:r>
              <a:t>https://www.rpatyphoon.ru/about/history.php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НПО «Тайфун»: метеомачта ВММ-310</a:t>
            </a:r>
          </a:p>
          <a:p xmlns:a="http://schemas.openxmlformats.org/drawingml/2006/main">
            <a:r>
              <a:t>https://www.rpatyphoon.ru/activities/gidrometeo/vmm.php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Wikimedia: фото мачты, E. Privalikhina</a:t>
            </a:r>
          </a:p>
          <a:p xmlns:a="http://schemas.openxmlformats.org/drawingml/2006/main">
            <a:r>
              <a:t>https://commons.wikimedia.org/wiki/File:Метеомачта._Обнинск.jpg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Лицензия фотографии мачты: CC BY-SA 4.0</a:t>
            </a:r>
          </a:p>
          <a:p xmlns:a="http://schemas.openxmlformats.org/drawingml/2006/main">
            <a:r>
              <a:t>https://creativecommons.org/licenses/by-sa/4.0/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НПО «Тайфун»: установки и фотографии</a:t>
            </a:r>
          </a:p>
          <a:p xmlns:a="http://schemas.openxmlformats.org/drawingml/2006/main">
            <a:r>
              <a:t>https://www.rpatyphoon.ru/activities/gidrometeo/uu.php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НИФХИ: официальный сайт (karpovipc.ru)</a:t>
            </a:r>
          </a:p>
          <a:p xmlns:a="http://schemas.openxmlformats.org/drawingml/2006/main">
            <a:r>
              <a:t>https://www.karpovipc.ru/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«Наука Росатом»: НИФХИ им. Карпова</a:t>
            </a:r>
          </a:p>
          <a:p xmlns:a="http://schemas.openxmlformats.org/drawingml/2006/main">
            <a:r>
              <a:t>https://intern.naukarosatom.ru/nauchnye-instituty/ao-nifkhi-im-l-ya-karpova/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НИФХИ: история и фотография реактора</a:t>
            </a:r>
          </a:p>
          <a:p xmlns:a="http://schemas.openxmlformats.org/drawingml/2006/main">
            <a:r>
              <a:t>https://www.karpovipc.ru/index.php/18-frontpage/14-o-nas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«Атомная энергия 2.0»: архивное фото</a:t>
            </a:r>
          </a:p>
          <a:p xmlns:a="http://schemas.openxmlformats.org/drawingml/2006/main">
            <a:r>
              <a:t>https://www.atomic-energy.ru/news/2014/11/14/52921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30. НИФХИ: «Атомэкспо-2024», фотографии</a:t>
            </a:r>
          </a:p>
          <a:p xmlns:a="http://schemas.openxmlformats.org/drawingml/2006/main">
            <a:r>
              <a:t>https://www.karpovipc.ru/index.php/8-novosti/143-nifhi-atomexpo-24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31. Leaflet: библиотека интерактивной карты</a:t>
            </a:r>
          </a:p>
          <a:p xmlns:a="http://schemas.openxmlformats.org/drawingml/2006/main">
            <a:r>
              <a:t>https://leafletjs.com/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32. OpenStreetMap: карта и авторство</a:t>
            </a:r>
          </a:p>
          <a:p xmlns:a="http://schemas.openxmlformats.org/drawingml/2006/main">
            <a:r>
              <a:t>https://www.openstreetmap.org/copyright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33. Esri World Imagery: спутниковые снимки</a:t>
            </a:r>
          </a:p>
          <a:p xmlns:a="http://schemas.openxmlformats.org/drawingml/2006/main">
            <a:r>
              <a:t>https://www.arcgis.com/home/item.html?id=10df2279f9684e4a9f6a7f08febac2a9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34. Сайт проекта (obninskmap.github.io)</a:t>
            </a:r>
          </a:p>
          <a:p xmlns:a="http://schemas.openxmlformats.org/drawingml/2006/main">
            <a:r>
              <a:t>https://obninskmap.github.io/index/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35. Исходная карта (github.com/mgyodda)</a:t>
            </a:r>
          </a:p>
          <a:p xmlns:a="http://schemas.openxmlformats.org/drawingml/2006/main">
            <a:r>
              <a:t>https://github.com/mgyodda/obninsk-map/tree/main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36. Обнинск: научные центры города</a:t>
            </a:r>
          </a:p>
          <a:p xmlns:a="http://schemas.openxmlformats.org/drawingml/2006/main">
            <a:r>
              <a:t>https://www.obninsk.ru/obninsk/gorod/scientific-centers/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37. Leaflet: документация библиотеки</a:t>
            </a:r>
          </a:p>
          <a:p xmlns:a="http://schemas.openxmlformats.org/drawingml/2006/main">
            <a:r>
              <a:t>https://leafletjs.com/reference.html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МБОУ СОШ № 16 г. Обнинска. Положение по оценке метапредметных результатов на уровне ООО. Приказ № 367 от 06.11.2025. 5 с. Предоставленный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Филиппова Яна. «Мягкое электричество». Пример структуры презентации. Предоставленный PDF, 13 слайдов, год не указан.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Фотографии сайта: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ippe: Критический ядерный стенд БФС-1. Фото экспериментальной базы ФЭИ.</a:t>
            </a:r>
          </a:p>
          <a:p xmlns:a="http://schemas.openxmlformats.org/drawingml/2006/main">
            <a:r>
              <a:t>Автор/правообладатель: ФЭИ, официальный сайт</a:t>
            </a:r>
          </a:p>
          <a:p xmlns:a="http://schemas.openxmlformats.org/drawingml/2006/main">
            <a:r>
              <a:t>Источник: https://www.ippe.ru/facilities</a:t>
            </a:r>
          </a:p>
          <a:p xmlns:a="http://schemas.openxmlformats.org/drawingml/2006/main">
            <a:r>
              <a:t>Оригинал: https://www.ippe.ru/images/oyarit/bfs/bfs1.jpg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ippe: Критический ядерный стенд БФС-2. Фото экспериментальной базы ФЭИ.</a:t>
            </a:r>
          </a:p>
          <a:p xmlns:a="http://schemas.openxmlformats.org/drawingml/2006/main">
            <a:r>
              <a:t>Автор/правообладатель: ФЭИ, официальный сайт</a:t>
            </a:r>
          </a:p>
          <a:p xmlns:a="http://schemas.openxmlformats.org/drawingml/2006/main">
            <a:r>
              <a:t>Источник: https://www.ippe.ru/facilities</a:t>
            </a:r>
          </a:p>
          <a:p xmlns:a="http://schemas.openxmlformats.org/drawingml/2006/main">
            <a:r>
              <a:t>Оригинал: https://www.ippe.ru/images/oyarit/bfs/bfs2.jpg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ippe: Топливный комплекс ФЭИ: оборудование для исследований реакторного топлива.</a:t>
            </a:r>
          </a:p>
          <a:p xmlns:a="http://schemas.openxmlformats.org/drawingml/2006/main">
            <a:r>
              <a:t>Автор/правообладатель: ФЭИ, официальный сайт</a:t>
            </a:r>
          </a:p>
          <a:p xmlns:a="http://schemas.openxmlformats.org/drawingml/2006/main">
            <a:r>
              <a:t>Источник: https://www.ippe.ru/facilities</a:t>
            </a:r>
          </a:p>
          <a:p xmlns:a="http://schemas.openxmlformats.org/drawingml/2006/main">
            <a:r>
              <a:t>Оригинал: https://www.ippe.ru/images/oirmit/facilities/fuel-complex.jpg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ippe: Чистые комнаты комплекса радиоизотопов и радиофармпрепаратов ФЭИ.</a:t>
            </a:r>
          </a:p>
          <a:p xmlns:a="http://schemas.openxmlformats.org/drawingml/2006/main">
            <a:r>
              <a:t>Автор/правообладатель: ФЭИ, официальный сайт</a:t>
            </a:r>
          </a:p>
          <a:p xmlns:a="http://schemas.openxmlformats.org/drawingml/2006/main">
            <a:r>
              <a:t>Источник: https://www.ippe.ru/facilities</a:t>
            </a:r>
          </a:p>
          <a:p xmlns:a="http://schemas.openxmlformats.org/drawingml/2006/main">
            <a:r>
              <a:t>Оригинал: https://www.ippe.ru/images/ofxt/npk/facilities/clear-rooms1.jpg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ippe: Теплогидравлические водяные стенды. Фото экспериментальной базы ФЭИ.</a:t>
            </a:r>
          </a:p>
          <a:p xmlns:a="http://schemas.openxmlformats.org/drawingml/2006/main">
            <a:r>
              <a:t>Автор/правообладатель: ФЭИ, официальный сайт</a:t>
            </a:r>
          </a:p>
          <a:p xmlns:a="http://schemas.openxmlformats.org/drawingml/2006/main">
            <a:r>
              <a:t>Источник: https://www.ippe.ru/facilities</a:t>
            </a:r>
          </a:p>
          <a:p xmlns:a="http://schemas.openxmlformats.org/drawingml/2006/main">
            <a:r>
              <a:t>Оригинал: https://www.ippe.ru/images/obyaeu/experimental-facilities/svd.jpg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ippe: Горячие камеры ФЭИ: работа с радиоактивными веществами через защитные манипуляторы.</a:t>
            </a:r>
          </a:p>
          <a:p xmlns:a="http://schemas.openxmlformats.org/drawingml/2006/main">
            <a:r>
              <a:t>Автор/правообладатель: ФЭИ, официальный сайт</a:t>
            </a:r>
          </a:p>
          <a:p xmlns:a="http://schemas.openxmlformats.org/drawingml/2006/main">
            <a:r>
              <a:t>Источник: https://www.ippe.ru/facilities</a:t>
            </a:r>
          </a:p>
          <a:p xmlns:a="http://schemas.openxmlformats.org/drawingml/2006/main">
            <a:r>
              <a:t>Оригинал: https://www.ippe.ru/images/ofxt/npk/hot-box3.jpg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ippe: Испытательный комплекс ФЭИ: пульты управления экспериментальным оборудованием.</a:t>
            </a:r>
          </a:p>
          <a:p xmlns:a="http://schemas.openxmlformats.org/drawingml/2006/main">
            <a:r>
              <a:t>Автор/правообладатель: ФЭИ, официальный сайт</a:t>
            </a:r>
          </a:p>
          <a:p xmlns:a="http://schemas.openxmlformats.org/drawingml/2006/main">
            <a:r>
              <a:t>Источник: https://www.ippe.ru/facilities</a:t>
            </a:r>
          </a:p>
          <a:p xmlns:a="http://schemas.openxmlformats.org/drawingml/2006/main">
            <a:r>
              <a:t>Оригинал: https://www.ippe.ru/images/oirmit/facilities/ik.jpg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ippe: Двухзонный импульсный реактор БАРС-6. Фото экспериментальной базы ФЭИ.</a:t>
            </a:r>
          </a:p>
          <a:p xmlns:a="http://schemas.openxmlformats.org/drawingml/2006/main">
            <a:r>
              <a:t>Автор/правообладатель: ФЭИ, официальный сайт</a:t>
            </a:r>
          </a:p>
          <a:p xmlns:a="http://schemas.openxmlformats.org/drawingml/2006/main">
            <a:r>
              <a:t>Источник: https://www.ippe.ru/facilities</a:t>
            </a:r>
          </a:p>
          <a:p xmlns:a="http://schemas.openxmlformats.org/drawingml/2006/main">
            <a:r>
              <a:t>Оригинал: https://www.ippe.ru/images/okes/bars-main.jpg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technologiya: Здание ОНПП «Технология» в публикации Ростеха о научных школах предприятия.</a:t>
            </a:r>
          </a:p>
          <a:p xmlns:a="http://schemas.openxmlformats.org/drawingml/2006/main">
            <a:r>
              <a:t>Автор/правообладатель: ОНПП «Технология» / Ростех</a:t>
            </a:r>
          </a:p>
          <a:p xmlns:a="http://schemas.openxmlformats.org/drawingml/2006/main">
            <a:r>
              <a:t>Источник: https://rostec.ru/media/news/steklo-keramika-i-kompozity-tri-nauchnykh-kita-tekhnologii/</a:t>
            </a:r>
          </a:p>
          <a:p xmlns:a="http://schemas.openxmlformats.org/drawingml/2006/main">
            <a:r>
              <a:t>Оригинал: https://rostec.ru/upload/iblock/84f/ggndegsxhaha721yv0n1dyk4apm0xffw.jpg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technologiya: Фасад ОНПП «Технология», публикация 2025 года.</a:t>
            </a:r>
          </a:p>
          <a:p xmlns:a="http://schemas.openxmlformats.org/drawingml/2006/main">
            <a:r>
              <a:t>Автор/правообладатель: ОНПП «Технология» / Администрация Обнинска</a:t>
            </a:r>
          </a:p>
          <a:p xmlns:a="http://schemas.openxmlformats.org/drawingml/2006/main">
            <a:r>
              <a:t>Источник: https://admobninsk.ru/news/2025/10/24/news_34090.html</a:t>
            </a:r>
          </a:p>
          <a:p xmlns:a="http://schemas.openxmlformats.org/drawingml/2006/main">
            <a:r>
              <a:t>Оригинал: указан на странице источника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technologiya: Сотовые заполнители ОНПП «Технология» для лёгких и прочных конструкций.</a:t>
            </a:r>
          </a:p>
          <a:p xmlns:a="http://schemas.openxmlformats.org/drawingml/2006/main">
            <a:r>
              <a:t>Автор/правообладатель: ОНПП «Технология» / Ростех</a:t>
            </a:r>
          </a:p>
          <a:p xmlns:a="http://schemas.openxmlformats.org/drawingml/2006/main">
            <a:r>
              <a:t>Источник: https://rostec.ru/media/news/sdelano-v-rostekhe-sotovye-zapolniteli/</a:t>
            </a:r>
          </a:p>
          <a:p xmlns:a="http://schemas.openxmlformats.org/drawingml/2006/main">
            <a:r>
              <a:t>Оригинал: https://rostec.ru/upload/resize_cache/iblock/64b/1500_1500_1/qc7fyjbf6lckl7yjjvf0g714olncpmj1.jpg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technologiya: Изделия из композиционных керамических материалов разработки ОНПП «Технология».</a:t>
            </a:r>
          </a:p>
          <a:p xmlns:a="http://schemas.openxmlformats.org/drawingml/2006/main">
            <a:r>
              <a:t>Автор/правообладатель: ОНПП «Технология» / Ростех</a:t>
            </a:r>
          </a:p>
          <a:p xmlns:a="http://schemas.openxmlformats.org/drawingml/2006/main">
            <a:r>
              <a:t>Источник: https://rostec.ru/media/news/onpp-tekhnologiya-obespechit-20-rossiyskogo-rynka-komplektuyushchikh-iz-kompozitsionnykh-keramichesk/</a:t>
            </a:r>
          </a:p>
          <a:p xmlns:a="http://schemas.openxmlformats.org/drawingml/2006/main">
            <a:r>
              <a:t>Оригинал: https://rostec.ru/upload/iblock/60e/njvrmf13482zg4d5edz4nsauzqniq0jt.jpg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technologiya: Изготовление органического остекления для авиалайнеров в ОНПП «Технология».</a:t>
            </a:r>
          </a:p>
          <a:p xmlns:a="http://schemas.openxmlformats.org/drawingml/2006/main">
            <a:r>
              <a:t>Автор/правообладатель: ОНПП «Технология» / Ростех</a:t>
            </a:r>
          </a:p>
          <a:p xmlns:a="http://schemas.openxmlformats.org/drawingml/2006/main">
            <a:r>
              <a:t>Источник: https://rostec.ru/media/news/tekhnologiya-vnedryaet-innovatsionnyy-metod-proizvodstva-izdeliy-iz-organicheskogo-ostekleniya-dlya-/</a:t>
            </a:r>
          </a:p>
          <a:p xmlns:a="http://schemas.openxmlformats.org/drawingml/2006/main">
            <a:r>
              <a:t>Оригинал: https://rostec.ru/upload/iblock/365/yznmh2xzs9zq9sr0sacls4bncpg4i62f.JPG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typhoon: Высотная метеорологическая мачта ВММ-310 в Обнинске. Размер изображения уменьшен.</a:t>
            </a:r>
          </a:p>
          <a:p xmlns:a="http://schemas.openxmlformats.org/drawingml/2006/main">
            <a:r>
              <a:t>Автор/правообладатель: Elena Privalikhina / Wikimedia Commons, CC BY-SA 4.0</a:t>
            </a:r>
          </a:p>
          <a:p xmlns:a="http://schemas.openxmlformats.org/drawingml/2006/main">
            <a:r>
              <a:t>Источник: https://commons.wikimedia.org/wiki/File:Метеомачта._Обнинск.jpg</a:t>
            </a:r>
          </a:p>
          <a:p xmlns:a="http://schemas.openxmlformats.org/drawingml/2006/main">
            <a:r>
              <a:t>Оригинал: https://upload.wikimedia.org/wikipedia/commons/7/74/Метеомачта._Обнинск.jpg</a:t>
            </a:r>
          </a:p>
          <a:p xmlns:a="http://schemas.openxmlformats.org/drawingml/2006/main">
            <a:r>
              <a:t>Лицензия: https://creativecommons.org/licenses/by-sa/4.0/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typhoon: Большая климатическая камера: вид снаружи. Фото НПО «Тайфун».</a:t>
            </a:r>
          </a:p>
          <a:p xmlns:a="http://schemas.openxmlformats.org/drawingml/2006/main">
            <a:r>
              <a:t>Автор/правообладатель: НПО «Тайфун», официальный сайт</a:t>
            </a:r>
          </a:p>
          <a:p xmlns:a="http://schemas.openxmlformats.org/drawingml/2006/main">
            <a:r>
              <a:t>Источник: https://www.rpatyphoon.ru/activities/gidrometeo/uu.php</a:t>
            </a:r>
          </a:p>
          <a:p xmlns:a="http://schemas.openxmlformats.org/drawingml/2006/main">
            <a:r>
              <a:t>Оригинал: https://www.rpatyphoon.ru/upload/medialibrary/706/BKK_snaruzhi.jpg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typhoon: Внутри Большой климатической камеры НПО «Тайфун».</a:t>
            </a:r>
          </a:p>
          <a:p xmlns:a="http://schemas.openxmlformats.org/drawingml/2006/main">
            <a:r>
              <a:t>Автор/правообладатель: НПО «Тайфун», официальный сайт</a:t>
            </a:r>
          </a:p>
          <a:p xmlns:a="http://schemas.openxmlformats.org/drawingml/2006/main">
            <a:r>
              <a:t>Источник: https://www.rpatyphoon.ru/activities/gidrometeo/uu.php</a:t>
            </a:r>
          </a:p>
          <a:p xmlns:a="http://schemas.openxmlformats.org/drawingml/2006/main">
            <a:r>
              <a:t>Оригинал: https://www.rpatyphoon.ru/upload/medialibrary/833/BKK_vnutri.jpg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typhoon: Вертикальная двухфазная аэродинамическая труба. Фото НПО «Тайфун».</a:t>
            </a:r>
          </a:p>
          <a:p xmlns:a="http://schemas.openxmlformats.org/drawingml/2006/main">
            <a:r>
              <a:t>Автор/правообладатель: НПО «Тайфун», официальный сайт</a:t>
            </a:r>
          </a:p>
          <a:p xmlns:a="http://schemas.openxmlformats.org/drawingml/2006/main">
            <a:r>
              <a:t>Источник: https://www.rpatyphoon.ru/activities/gidrometeo/uu.php</a:t>
            </a:r>
          </a:p>
          <a:p xmlns:a="http://schemas.openxmlformats.org/drawingml/2006/main">
            <a:r>
              <a:t>Оригинал: https://www.rpatyphoon.ru/upload/medialibrary/a01/Vert_tr.jpg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karpov: Исследовательский реактор. Иллюстрация раздела истории НИФХИ.</a:t>
            </a:r>
          </a:p>
          <a:p xmlns:a="http://schemas.openxmlformats.org/drawingml/2006/main">
            <a:r>
              <a:t>Автор/правообладатель: НИФХИ им. Л. Я. Карпова, официальный сайт</a:t>
            </a:r>
          </a:p>
          <a:p xmlns:a="http://schemas.openxmlformats.org/drawingml/2006/main">
            <a:r>
              <a:t>Источник: https://www.karpovipc.ru/index.php/18-frontpage/14-o-nas</a:t>
            </a:r>
          </a:p>
          <a:p xmlns:a="http://schemas.openxmlformats.org/drawingml/2006/main">
            <a:r>
              <a:t>Оригинал: https://www.karpovipc.ru/images/Articles_images/reactor.jpg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karpov: Архивная фотография здания обнинской площадки НИФХИ из публикации 2014 года.</a:t>
            </a:r>
          </a:p>
          <a:p xmlns:a="http://schemas.openxmlformats.org/drawingml/2006/main">
            <a:r>
              <a:t>Автор/правообладатель: Атомная энергия 2.0 / livepark.pro</a:t>
            </a:r>
          </a:p>
          <a:p xmlns:a="http://schemas.openxmlformats.org/drawingml/2006/main">
            <a:r>
              <a:t>Источник: https://www.atomic-energy.ru/news/2014/11/14/52921</a:t>
            </a:r>
          </a:p>
          <a:p xmlns:a="http://schemas.openxmlformats.org/drawingml/2006/main">
            <a:r>
              <a:t>Оригинал: указан на странице источника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karpov: Экспозиция ядерной медицины на «Атомэкспо-2024» в публикации НИФХИ им. Карпова.</a:t>
            </a:r>
          </a:p>
          <a:p xmlns:a="http://schemas.openxmlformats.org/drawingml/2006/main">
            <a:r>
              <a:t>Автор/правообладатель: НИФХИ им. Л. Я. Карпова, официальный сайт</a:t>
            </a:r>
          </a:p>
          <a:p xmlns:a="http://schemas.openxmlformats.org/drawingml/2006/main">
            <a:r>
              <a:t>Источник: https://www.karpovipc.ru/index.php/8-novosti/143-nifhi-atomexpo-24</a:t>
            </a:r>
          </a:p>
          <a:p xmlns:a="http://schemas.openxmlformats.org/drawingml/2006/main">
            <a:r>
              <a:t>Оригинал: https://www.karpovipc.ru/images/Articles_images/03.04.2024/3_.jpg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bninskmap.github.io/index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bninskmap.github.io/index/" TargetMode="External"/><Relationship Id="rId51" Type="http://schemas.openxmlformats.org/officeDocument/2006/relationships/hyperlink" Target="https://www.ippe.ru/" TargetMode="External"/><Relationship Id="rId52" Type="http://schemas.openxmlformats.org/officeDocument/2006/relationships/hyperlink" Target="https://www.ippe.ru/facilities" TargetMode="External"/><Relationship Id="rId53" Type="http://schemas.openxmlformats.org/officeDocument/2006/relationships/hyperlink" Target="https://www.ippe.ru/realized-projects/fast-neutrons-reactors/269-bn-600" TargetMode="External"/><Relationship Id="rId54" Type="http://schemas.openxmlformats.org/officeDocument/2006/relationships/hyperlink" Target="https://www.ippe.ru/realized-projects/fast-neutrons-reactors/270-bn800" TargetMode="External"/><Relationship Id="rId55" Type="http://schemas.openxmlformats.org/officeDocument/2006/relationships/hyperlink" Target="https://www.ippe.ru/reactors/bfs-fast-critical-assembly/fast-reactor-bfs-researches" TargetMode="External"/><Relationship Id="rId56" Type="http://schemas.openxmlformats.org/officeDocument/2006/relationships/hyperlink" Target="https://www.ippe.ru/npf-safety/facilities/heat-hydraulic-liquid-metal/178-6b" TargetMode="External"/><Relationship Id="rId57" Type="http://schemas.openxmlformats.org/officeDocument/2006/relationships/hyperlink" Target="https://www.ippe.ru/departments" TargetMode="External"/><Relationship Id="rId58" Type="http://schemas.openxmlformats.org/officeDocument/2006/relationships/hyperlink" Target="https://www.technologiya.ru/" TargetMode="External"/><Relationship Id="rId59" Type="http://schemas.openxmlformats.org/officeDocument/2006/relationships/hyperlink" Target="https://www.admobninsk.ru/obninsk/gorod/scientific-centers/technologiya/" TargetMode="External"/><Relationship Id="rId60" Type="http://schemas.openxmlformats.org/officeDocument/2006/relationships/hyperlink" Target="https://ru.wikipedia.org/wiki/&#1058;&#1077;&#1093;&#1085;&#1086;&#1083;&#1086;&#1075;&#1080;&#1103;_(&#1086;&#1073;&#1085;&#1080;&#1085;&#1089;&#1082;&#1086;&#1077;_&#1085;&#1072;&#1091;&#1095;&#1085;&#1086;-&#1087;&#1088;&#1086;&#1080;&#1079;&#1074;&#1086;&#1076;&#1089;&#1090;&#1074;&#1077;&#1085;&#1085;&#1086;&#1077;_&#1087;&#1088;&#1077;&#1076;&#1087;&#1088;&#1080;&#1103;&#1090;&#1080;&#1077;)" TargetMode="External"/><Relationship Id="rId61" Type="http://schemas.openxmlformats.org/officeDocument/2006/relationships/hyperlink" Target="https://agnc.ru/gnc/6198" TargetMode="External"/><Relationship Id="rId62" Type="http://schemas.openxmlformats.org/officeDocument/2006/relationships/hyperlink" Target="https://rostec.ru/media/news/steklo-keramika-i-kompozity-tri-nauchnykh-kita-tekhnologii/" TargetMode="External"/><Relationship Id="rId63" Type="http://schemas.openxmlformats.org/officeDocument/2006/relationships/hyperlink" Target="https://admobninsk.ru/news/2025/10/24/news_34090.html" TargetMode="External"/><Relationship Id="rId64" Type="http://schemas.openxmlformats.org/officeDocument/2006/relationships/hyperlink" Target="https://rostec.ru/media/news/sdelano-v-rostekhe-sotovye-zapolniteli/" TargetMode="External"/><Relationship Id="rId65" Type="http://schemas.openxmlformats.org/officeDocument/2006/relationships/hyperlink" Target="https://rostec.ru/media/news/onpp-tekhnologiya-obespechit-20-rossiyskogo-rynka-komplektuyushchikh-iz-kompozitsionnykh-keramichesk/" TargetMode="External"/><Relationship Id="rId66" Type="http://schemas.openxmlformats.org/officeDocument/2006/relationships/hyperlink" Target="https://rostec.ru/media/news/tekhnologiya-vnedryaet-innovatsionnyy-metod-proizvodstva-izdeliy-iz-organicheskogo-ostekleniya-dlya-/" TargetMode="External"/><Relationship Id="rId67" Type="http://schemas.openxmlformats.org/officeDocument/2006/relationships/hyperlink" Target="https://www.rpatyphoon.ru/" TargetMode="External"/><Relationship Id="rId68" Type="http://schemas.openxmlformats.org/officeDocument/2006/relationships/hyperlink" Target="https://www.rpatyphoon.ru/about/info.php" TargetMode="External"/><Relationship Id="rId69" Type="http://schemas.openxmlformats.org/officeDocument/2006/relationships/hyperlink" Target="https://www.rpatyphoon.ru/contacts/" TargetMode="External"/><Relationship Id="rId70" Type="http://schemas.openxmlformats.org/officeDocument/2006/relationships/hyperlink" Target="https://www.rpatyphoon.ru/activities/ecomonitoring/rgm.php" TargetMode="External"/><Relationship Id="rId71" Type="http://schemas.openxmlformats.org/officeDocument/2006/relationships/hyperlink" Target="https://www.rpatyphoon.ru/about/history.php" TargetMode="External"/><Relationship Id="rId72" Type="http://schemas.openxmlformats.org/officeDocument/2006/relationships/hyperlink" Target="https://www.rpatyphoon.ru/activities/gidrometeo/vmm.php" TargetMode="External"/><Relationship Id="rId73" Type="http://schemas.openxmlformats.org/officeDocument/2006/relationships/hyperlink" Target="https://commons.wikimedia.org/wiki/File:&#1052;&#1077;&#1090;&#1077;&#1086;&#1084;&#1072;&#1095;&#1090;&#1072;._&#1054;&#1073;&#1085;&#1080;&#1085;&#1089;&#1082;.jpg" TargetMode="External"/><Relationship Id="rId74" Type="http://schemas.openxmlformats.org/officeDocument/2006/relationships/hyperlink" Target="https://creativecommons.org/licenses/by-sa/4.0/" TargetMode="External"/><Relationship Id="rId75" Type="http://schemas.openxmlformats.org/officeDocument/2006/relationships/hyperlink" Target="https://www.rpatyphoon.ru/activities/gidrometeo/uu.php" TargetMode="External"/><Relationship Id="rId76" Type="http://schemas.openxmlformats.org/officeDocument/2006/relationships/hyperlink" Target="https://www.karpovipc.ru/" TargetMode="External"/><Relationship Id="rId77" Type="http://schemas.openxmlformats.org/officeDocument/2006/relationships/hyperlink" Target="https://intern.naukarosatom.ru/nauchnye-instituty/ao-nifkhi-im-l-ya-karpova/" TargetMode="External"/><Relationship Id="rId78" Type="http://schemas.openxmlformats.org/officeDocument/2006/relationships/hyperlink" Target="https://www.karpovipc.ru/index.php/18-frontpage/14-o-nas" TargetMode="External"/><Relationship Id="rId79" Type="http://schemas.openxmlformats.org/officeDocument/2006/relationships/hyperlink" Target="https://www.atomic-energy.ru/news/2014/11/14/52921" TargetMode="External"/><Relationship Id="rId80" Type="http://schemas.openxmlformats.org/officeDocument/2006/relationships/hyperlink" Target="https://www.karpovipc.ru/index.php/8-novosti/143-nifhi-atomexpo-24" TargetMode="External"/><Relationship Id="rId81" Type="http://schemas.openxmlformats.org/officeDocument/2006/relationships/hyperlink" Target="https://leafletjs.com/" TargetMode="External"/><Relationship Id="rId82" Type="http://schemas.openxmlformats.org/officeDocument/2006/relationships/hyperlink" Target="https://www.openstreetmap.org/copyright" TargetMode="External"/><Relationship Id="rId83" Type="http://schemas.openxmlformats.org/officeDocument/2006/relationships/hyperlink" Target="https://www.arcgis.com/home/item.html?id=10df2279f9684e4a9f6a7f08febac2a9" TargetMode="External"/><Relationship Id="rId84" Type="http://schemas.openxmlformats.org/officeDocument/2006/relationships/hyperlink" Target="https://obninskmap.github.io/index/" TargetMode="External"/><Relationship Id="rId85" Type="http://schemas.openxmlformats.org/officeDocument/2006/relationships/hyperlink" Target="https://github.com/mgyodda/obninsk-map/tree/main" TargetMode="External"/><Relationship Id="rId86" Type="http://schemas.openxmlformats.org/officeDocument/2006/relationships/hyperlink" Target="https://www.obninsk.ru/obninsk/gorod/scientific-centers/" TargetMode="External"/><Relationship Id="rId87" Type="http://schemas.openxmlformats.org/officeDocument/2006/relationships/hyperlink" Target="https://leafletjs.com/reference.html" TargetMode="External"/><Relationship Id="rId20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2199993-36C0-4856-B4CC-F22E637310CF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858125" cy="1666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Интерактивная</a:t>
            </a:r>
          </a:p>
          <a:p>
            <a:pPr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Обнинска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7B71157-9367-49E2-A181-4017FC4A9270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6667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Научные организации</a:t>
            </a:r>
          </a:p>
          <a:p>
            <a:pPr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и предприятия города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D107A5-7E59-4EEA-A199-859016D8F07E}"/>
              </a:ext>
            </a:extLst>
          </p:cNvPr>
          <p:cNvSpPr>
            <a:spLocks noGrp="1"/>
          </p:cNvSpPr>
          <p:nvPr/>
        </p:nvSpPr>
        <p:spPr>
          <a:xfrm>
            <a:off x="723900" y="5762625"/>
            <a:ext cx="571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endParaRPr sz="1500" b="0" dirty="0">
              <a:solidFill>
                <a:srgbClr val="ADC2C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Subtle perimeter outline">
            <a:extLst>
              <a:ext uri="{FF2B5EF4-FFF2-40B4-BE49-F238E27FC236}">
                <a16:creationId xmlns:a16="http://schemas.microsoft.com/office/drawing/2014/main" id="{C5C0FC45-A18A-43B8-9044-337BE2CB018E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10160">
            <a:solidFill>
              <a:srgbClr val="52776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143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8AFC9AE-CAB8-4F12-94A1-1C81009DA7D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Актуальность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75B326-AB98-4F82-8989-B37097A133A6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BB47531-4915-4BC5-AE34-25FC0958944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0482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Знакомство с городом</a:t>
            </a:r>
          </a:p>
          <a:p>
            <a:pPr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через его предприятия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FFE3960-238F-45A6-98B4-710137B2EA2B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9530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Названия организаций не всегда объясняют, чем они занимаются и какую пользу приносит их работа.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B52E179-AF5F-4572-B49E-10396D09D8D7}"/>
              </a:ext>
            </a:extLst>
          </p:cNvPr>
          <p:cNvSpPr>
            <a:spLocks noGrp="1"/>
          </p:cNvSpPr>
          <p:nvPr/>
        </p:nvSpPr>
        <p:spPr>
          <a:xfrm>
            <a:off x="6477000" y="3524250"/>
            <a:ext cx="4953000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Карта связывает расположение предприятия с его историей и примерами продукции.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5278D9-003B-4532-BFCE-86A00084DFD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Такой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формат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подходит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для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изучения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родного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края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знакомства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с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профессиями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70990-8883-484A-B6FF-1F3AADD4F1EE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02</a:t>
            </a:r>
          </a:p>
        </p:txBody>
      </p:sp>
      <p:sp>
        <p:nvSpPr>
          <p:cNvPr id="9" name="Subtle perimeter outline">
            <a:extLst>
              <a:ext uri="{FF2B5EF4-FFF2-40B4-BE49-F238E27FC236}">
                <a16:creationId xmlns:a16="http://schemas.microsoft.com/office/drawing/2014/main" id="{8943CEEE-AF05-4C68-A520-27B59D3AD5E6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99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43D4ECC-95B1-4D24-87CD-C9E8F2E04AD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30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Цель и задачи проекта</a:t>
            </a:r>
            <a:endParaRPr sz="3000" b="1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0CD4C3-6F70-46AA-9FDA-79BAB365C938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CF9E4CC-3391-4641-BFB7-5056EDBF142A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01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8A3B3A-2C15-4AF4-AAAA-062CC8F734B1}"/>
              </a:ext>
            </a:extLst>
          </p:cNvPr>
          <p:cNvSpPr>
            <a:spLocks noGrp="1"/>
          </p:cNvSpPr>
          <p:nvPr/>
        </p:nvSpPr>
        <p:spPr>
          <a:xfrm>
            <a:off x="1752600" y="23431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Выбрать организации для карты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9033ACD-6F7F-4B18-A713-4D8581D4061D}"/>
              </a:ext>
            </a:extLst>
          </p:cNvPr>
          <p:cNvSpPr>
            <a:spLocks noGrp="1"/>
          </p:cNvSpPr>
          <p:nvPr/>
        </p:nvSpPr>
        <p:spPr>
          <a:xfrm>
            <a:off x="704850" y="30099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02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8CF251B-FCA8-4AE0-BC99-C0965976F00B}"/>
              </a:ext>
            </a:extLst>
          </p:cNvPr>
          <p:cNvSpPr>
            <a:spLocks noGrp="1"/>
          </p:cNvSpPr>
          <p:nvPr/>
        </p:nvSpPr>
        <p:spPr>
          <a:xfrm>
            <a:off x="1752600" y="29908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Собрать сведения, фотографии и источники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E49A96-0927-4E2D-A8F8-31B4259C0FA5}"/>
              </a:ext>
            </a:extLst>
          </p:cNvPr>
          <p:cNvSpPr>
            <a:spLocks noGrp="1"/>
          </p:cNvSpPr>
          <p:nvPr/>
        </p:nvSpPr>
        <p:spPr>
          <a:xfrm>
            <a:off x="704850" y="36576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03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125E6C4-A121-40A0-9EF5-79A6D9108B00}"/>
              </a:ext>
            </a:extLst>
          </p:cNvPr>
          <p:cNvSpPr>
            <a:spLocks noGrp="1"/>
          </p:cNvSpPr>
          <p:nvPr/>
        </p:nvSpPr>
        <p:spPr>
          <a:xfrm>
            <a:off x="1752600" y="36385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Подготовить понятные описания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D02C0E7-4A2A-4AA8-9B60-AE038001762B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04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1FB8300-929A-4249-8EB5-C60AAAA2E710}"/>
              </a:ext>
            </a:extLst>
          </p:cNvPr>
          <p:cNvSpPr>
            <a:spLocks noGrp="1"/>
          </p:cNvSpPr>
          <p:nvPr/>
        </p:nvSpPr>
        <p:spPr>
          <a:xfrm>
            <a:off x="1752600" y="42862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Добавить поиск и выбор по направлениям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5CA4C78-2E59-4328-9D15-956C83E4F66E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05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2742E26-3B37-4B82-8002-F84F9D8C407C}"/>
              </a:ext>
            </a:extLst>
          </p:cNvPr>
          <p:cNvSpPr>
            <a:spLocks noGrp="1"/>
          </p:cNvSpPr>
          <p:nvPr/>
        </p:nvSpPr>
        <p:spPr>
          <a:xfrm>
            <a:off x="1752600" y="49339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Сделать удобный просмотр на компьютере и телефоне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E271156-D757-4E95-B484-DD6DFA24FBBB}"/>
              </a:ext>
            </a:extLst>
          </p:cNvPr>
          <p:cNvSpPr/>
          <p:nvPr/>
        </p:nvSpPr>
        <p:spPr>
          <a:xfrm>
            <a:off x="704850" y="1409700"/>
            <a:ext cx="800100" cy="381000"/>
          </a:xfrm>
          <a:prstGeom prst="rect">
            <a:avLst/>
          </a:prstGeom>
          <a:solidFill>
            <a:srgbClr val="117C68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DejaVu Sans"/>
              </a:rPr>
              <a:t>ЦЕЛЬ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168AA-4DC7-41AB-936E-5108E3B53F92}"/>
              </a:ext>
            </a:extLst>
          </p:cNvPr>
          <p:cNvSpPr txBox="1"/>
          <p:nvPr/>
        </p:nvSpPr>
        <p:spPr>
          <a:xfrm>
            <a:off x="1752600" y="1333500"/>
            <a:ext cx="95250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700" b="1" dirty="0">
                <a:solidFill>
                  <a:srgbClr val="112720"/>
                </a:solidFill>
                <a:latin typeface="DejaVu Sans"/>
              </a:rPr>
              <a:t>Создать понятную интерактивную карту научных организаций и предприятий Обнинска, чтобы школьники и жители могли узнать, где они находятся и чем занимаются.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ED203A-ED79-48C8-87C2-B5E18F071966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03</a:t>
            </a:r>
          </a:p>
        </p:txBody>
      </p:sp>
      <p:sp>
        <p:nvSpPr>
          <p:cNvPr id="17" name="Subtle perimeter outline">
            <a:extLst>
              <a:ext uri="{FF2B5EF4-FFF2-40B4-BE49-F238E27FC236}">
                <a16:creationId xmlns:a16="http://schemas.microsoft.com/office/drawing/2014/main" id="{44EEE82C-E18B-45FC-A2AE-CD25BF31F495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62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36A342C-6644-46E7-98F5-62CC8BC9B46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Что представлено на карте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0F7ED8F-27DA-4918-8816-2C80502FCA34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ADC2C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AD94E34-7B87-4AB1-8D90-A9CF4EE60063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16192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4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8400" b="1" dirty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4</a:t>
            </a:r>
            <a:endParaRPr sz="8400" b="1" dirty="0">
              <a:solidFill>
                <a:srgbClr val="9EF4C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8D99EE-1FD0-46AA-909F-4113F75D34DA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2571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организаций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0D5FDB6-2380-4E4D-BDF7-D7A41ED7B201}"/>
              </a:ext>
            </a:extLst>
          </p:cNvPr>
          <p:cNvSpPr>
            <a:spLocks noGrp="1"/>
          </p:cNvSpPr>
          <p:nvPr/>
        </p:nvSpPr>
        <p:spPr>
          <a:xfrm>
            <a:off x="714375" y="4038600"/>
            <a:ext cx="2190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2741ED0-5E57-4430-9516-F6F5E865B258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примера работ</a:t>
            </a:r>
          </a:p>
          <a:p>
            <a:pPr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 продукции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237812-BDC2-4DEA-8B55-2A0A57A82968}"/>
              </a:ext>
            </a:extLst>
          </p:cNvPr>
          <p:cNvSpPr>
            <a:spLocks noGrp="1"/>
          </p:cNvSpPr>
          <p:nvPr/>
        </p:nvSpPr>
        <p:spPr>
          <a:xfrm>
            <a:off x="4524375" y="1685925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Наука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3BA80E-45B4-40D0-A6A5-D9B13C6D4252}"/>
              </a:ext>
            </a:extLst>
          </p:cNvPr>
          <p:cNvSpPr>
            <a:spLocks noGrp="1"/>
          </p:cNvSpPr>
          <p:nvPr/>
        </p:nvSpPr>
        <p:spPr>
          <a:xfrm>
            <a:off x="4524375" y="2238375"/>
            <a:ext cx="6667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ФЭИ, НПО «</a:t>
            </a:r>
            <a:r>
              <a:rPr sz="2100" b="0" dirty="0" err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Тайфун</a:t>
            </a: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», НИФХИ </a:t>
            </a:r>
            <a:r>
              <a:rPr sz="2100" b="0" dirty="0" err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им</a:t>
            </a: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sz="2100" b="0" dirty="0" err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Карпова</a:t>
            </a:r>
            <a:endParaRPr sz="2100" b="0" dirty="0">
              <a:solidFill>
                <a:srgbClr val="EFF6F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8DE385-9DDD-4FC9-8314-0E9FE0B10AC2}"/>
              </a:ext>
            </a:extLst>
          </p:cNvPr>
          <p:cNvSpPr>
            <a:spLocks noGrp="1"/>
          </p:cNvSpPr>
          <p:nvPr/>
        </p:nvSpPr>
        <p:spPr>
          <a:xfrm>
            <a:off x="4524375" y="3219450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Промышленность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13E13C8-1863-4FB3-8293-9801F2680E8B}"/>
              </a:ext>
            </a:extLst>
          </p:cNvPr>
          <p:cNvSpPr>
            <a:spLocks noGrp="1"/>
          </p:cNvSpPr>
          <p:nvPr/>
        </p:nvSpPr>
        <p:spPr>
          <a:xfrm>
            <a:off x="4524375" y="3743325"/>
            <a:ext cx="6667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«</a:t>
            </a:r>
            <a:r>
              <a:rPr sz="2100" b="0" dirty="0" err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Технология</a:t>
            </a: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», 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89CEFB-0AC8-40F5-913C-B2B26D7AF1FB}"/>
              </a:ext>
            </a:extLst>
          </p:cNvPr>
          <p:cNvSpPr>
            <a:spLocks noGrp="1"/>
          </p:cNvSpPr>
          <p:nvPr/>
        </p:nvSpPr>
        <p:spPr>
          <a:xfrm>
            <a:off x="4524375" y="4867275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endParaRPr sz="2100" b="1" dirty="0">
              <a:solidFill>
                <a:srgbClr val="9EF4C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DAB30D3-3853-4103-B61A-853C6C26F9BB}"/>
              </a:ext>
            </a:extLst>
          </p:cNvPr>
          <p:cNvSpPr>
            <a:spLocks noGrp="1"/>
          </p:cNvSpPr>
          <p:nvPr/>
        </p:nvSpPr>
        <p:spPr>
          <a:xfrm>
            <a:off x="4524375" y="5381625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endParaRPr sz="2100" b="0" dirty="0">
              <a:solidFill>
                <a:srgbClr val="EFF6F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F1237-6DD7-4225-BFDC-D6B82E40EF95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04</a:t>
            </a:r>
          </a:p>
        </p:txBody>
      </p:sp>
      <p:sp>
        <p:nvSpPr>
          <p:cNvPr id="15" name="Subtle perimeter outline">
            <a:extLst>
              <a:ext uri="{FF2B5EF4-FFF2-40B4-BE49-F238E27FC236}">
                <a16:creationId xmlns:a16="http://schemas.microsoft.com/office/drawing/2014/main" id="{FC305788-4931-47B3-B7D9-CC2BBC536E9A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10160">
            <a:solidFill>
              <a:srgbClr val="52776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08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7C0007-FCDE-4FAF-B15B-74DE5E625FB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Как пользоваться картой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E6BAB1D-C810-4C11-A2DC-AED6E44F8E8A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980092F-6929-42ED-92DD-2FD87AF2F434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4905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1. Найти организацию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31C28F2-CD0A-4D7B-8627-8E910ABBB111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4810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Выбрать метку или название в списке.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64B2CD-9AA7-4028-9134-49F8639BE44C}"/>
              </a:ext>
            </a:extLst>
          </p:cNvPr>
          <p:cNvSpPr>
            <a:spLocks noGrp="1"/>
          </p:cNvSpPr>
          <p:nvPr/>
        </p:nvSpPr>
        <p:spPr>
          <a:xfrm>
            <a:off x="6572250" y="1781175"/>
            <a:ext cx="4905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2. Уточнить выбор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4C67632-9E3D-4B2D-AE81-19E3DD73ED41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4810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Воспользоваться поиском или фильтром.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B4AA644-0610-446E-B25B-029220BEF168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4905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3. Открыть сведения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EFB989-FD09-4C27-9450-097FF7A0D893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4810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Посмотреть историю, фото и примеры работ.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4F6FFD-6AA8-4785-82D1-30928B4749B1}"/>
              </a:ext>
            </a:extLst>
          </p:cNvPr>
          <p:cNvSpPr>
            <a:spLocks noGrp="1"/>
          </p:cNvSpPr>
          <p:nvPr/>
        </p:nvSpPr>
        <p:spPr>
          <a:xfrm>
            <a:off x="6572250" y="3838575"/>
            <a:ext cx="4905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4. Узнать больше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4D31D8B-83A4-401B-9A84-2D9CEBBC4B7C}"/>
              </a:ext>
            </a:extLst>
          </p:cNvPr>
          <p:cNvSpPr>
            <a:spLocks noGrp="1"/>
          </p:cNvSpPr>
          <p:nvPr/>
        </p:nvSpPr>
        <p:spPr>
          <a:xfrm>
            <a:off x="6572250" y="4591050"/>
            <a:ext cx="4810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Перейти к указанным источникам.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77035C-A079-4D53-ABB1-8931EA17FA7A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05</a:t>
            </a:r>
          </a:p>
        </p:txBody>
      </p:sp>
      <p:sp>
        <p:nvSpPr>
          <p:cNvPr id="13" name="Subtle perimeter outline">
            <a:extLst>
              <a:ext uri="{FF2B5EF4-FFF2-40B4-BE49-F238E27FC236}">
                <a16:creationId xmlns:a16="http://schemas.microsoft.com/office/drawing/2014/main" id="{624EAE48-BB88-4621-82DA-D1148F36E035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06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95936B9-84DD-47F7-BED1-6A34EF0E848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Пример: ОНПП «Технология»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1C87D6-7C9F-4D82-983B-D36C9E0AA95D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rcRect l="2872" r="2872"/>
          <a:stretch>
            <a:fillRect/>
          </a:stretch>
        </p:blipFill>
        <p:spPr>
          <a:xfrm>
            <a:off x="685800" y="1628775"/>
            <a:ext cx="5905500" cy="35242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651444-DD5D-42B6-9B55-E0B1CC0643E4}"/>
              </a:ext>
            </a:extLst>
          </p:cNvPr>
          <p:cNvSpPr>
            <a:spLocks noGrp="1"/>
          </p:cNvSpPr>
          <p:nvPr/>
        </p:nvSpPr>
        <p:spPr>
          <a:xfrm>
            <a:off x="7191375" y="170497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Чем занимается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A56A1B-7321-4848-B977-C92992A1850C}"/>
              </a:ext>
            </a:extLst>
          </p:cNvPr>
          <p:cNvSpPr>
            <a:spLocks noGrp="1"/>
          </p:cNvSpPr>
          <p:nvPr/>
        </p:nvSpPr>
        <p:spPr>
          <a:xfrm>
            <a:off x="7191375" y="2286000"/>
            <a:ext cx="4286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Разрабатывает материалы и изделия для сложных инженерных задач.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2A1AC6C-8007-406C-BC5C-1EECE251634C}"/>
              </a:ext>
            </a:extLst>
          </p:cNvPr>
          <p:cNvSpPr>
            <a:spLocks noGrp="1"/>
          </p:cNvSpPr>
          <p:nvPr/>
        </p:nvSpPr>
        <p:spPr>
          <a:xfrm>
            <a:off x="7191375" y="401002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В карточке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D5C7FC-AC5A-405D-8122-177375449BC3}"/>
              </a:ext>
            </a:extLst>
          </p:cNvPr>
          <p:cNvSpPr>
            <a:spLocks noGrp="1"/>
          </p:cNvSpPr>
          <p:nvPr/>
        </p:nvSpPr>
        <p:spPr>
          <a:xfrm>
            <a:off x="7191375" y="4572000"/>
            <a:ext cx="4286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История предприятия, фотографии и примеры продукции.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991CF1-D908-46B4-B2DB-87E25D1E6246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Композиты, техническое стекло и керамика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A3CBB-6E16-41E0-847B-CD51452E3173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06</a:t>
            </a:r>
          </a:p>
        </p:txBody>
      </p:sp>
      <p:sp>
        <p:nvSpPr>
          <p:cNvPr id="10" name="Subtle perimeter outline">
            <a:extLst>
              <a:ext uri="{FF2B5EF4-FFF2-40B4-BE49-F238E27FC236}">
                <a16:creationId xmlns:a16="http://schemas.microsoft.com/office/drawing/2014/main" id="{27FC153B-A694-4882-AB8D-D4C49E5BD044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75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26F6BB0-32EE-4672-B540-91C56035E92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Этапы создания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B478178-B227-43AB-B75A-7BBB9DD86DF8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EA64A9F-AC2E-4485-B371-F3DF4AB902E8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A407B94-CFF1-4335-9C90-A214FFF0786B}"/>
              </a:ext>
            </a:extLst>
          </p:cNvPr>
          <p:cNvSpPr>
            <a:spLocks noGrp="1"/>
          </p:cNvSpPr>
          <p:nvPr/>
        </p:nvSpPr>
        <p:spPr>
          <a:xfrm>
            <a:off x="1762125" y="164782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Подбор материалов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946394F-DE2F-4BC4-BE6F-7EA0CAA66791}"/>
              </a:ext>
            </a:extLst>
          </p:cNvPr>
          <p:cNvSpPr>
            <a:spLocks noGrp="1"/>
          </p:cNvSpPr>
          <p:nvPr/>
        </p:nvSpPr>
        <p:spPr>
          <a:xfrm>
            <a:off x="1762125" y="2124075"/>
            <a:ext cx="9620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Выбор организаций, сбор описаний и фотографий.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895F19F-EF23-44D1-B6D5-08CB390E9046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052EABA-2477-47D6-8364-9F1EF644B091}"/>
              </a:ext>
            </a:extLst>
          </p:cNvPr>
          <p:cNvSpPr>
            <a:spLocks noGrp="1"/>
          </p:cNvSpPr>
          <p:nvPr/>
        </p:nvSpPr>
        <p:spPr>
          <a:xfrm>
            <a:off x="1762125" y="275272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Подготовка содержания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44339EC-0FC8-4DDA-AFF9-594A9F139738}"/>
              </a:ext>
            </a:extLst>
          </p:cNvPr>
          <p:cNvSpPr>
            <a:spLocks noGrp="1"/>
          </p:cNvSpPr>
          <p:nvPr/>
        </p:nvSpPr>
        <p:spPr>
          <a:xfrm>
            <a:off x="1762125" y="3228975"/>
            <a:ext cx="9620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Краткие тексты об истории и деятельности.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4F71981-063E-48F3-881E-344C243AE74D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70ECF83-5D17-499C-8D7E-B718AA012112}"/>
              </a:ext>
            </a:extLst>
          </p:cNvPr>
          <p:cNvSpPr>
            <a:spLocks noGrp="1"/>
          </p:cNvSpPr>
          <p:nvPr/>
        </p:nvSpPr>
        <p:spPr>
          <a:xfrm>
            <a:off x="1762125" y="385762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Создание карты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E386716-D532-4E9C-BAFD-B7D1962BD6AF}"/>
              </a:ext>
            </a:extLst>
          </p:cNvPr>
          <p:cNvSpPr>
            <a:spLocks noGrp="1"/>
          </p:cNvSpPr>
          <p:nvPr/>
        </p:nvSpPr>
        <p:spPr>
          <a:xfrm>
            <a:off x="1762125" y="4333875"/>
            <a:ext cx="9620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Размещение меток, карточек, поиска и фильтров.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91076D8-A434-4621-85EC-B5B59E1C495B}"/>
              </a:ext>
            </a:extLst>
          </p:cNvPr>
          <p:cNvSpPr>
            <a:spLocks noGrp="1"/>
          </p:cNvSpPr>
          <p:nvPr/>
        </p:nvSpPr>
        <p:spPr>
          <a:xfrm>
            <a:off x="685800" y="4981575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B0CD2B6-F507-4895-8F14-CAAD6BA4F203}"/>
              </a:ext>
            </a:extLst>
          </p:cNvPr>
          <p:cNvSpPr>
            <a:spLocks noGrp="1"/>
          </p:cNvSpPr>
          <p:nvPr/>
        </p:nvSpPr>
        <p:spPr>
          <a:xfrm>
            <a:off x="1762125" y="496252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Доработка оформления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D0F6EF6-184C-4A64-A323-28B7E1608FFE}"/>
              </a:ext>
            </a:extLst>
          </p:cNvPr>
          <p:cNvSpPr>
            <a:spLocks noGrp="1"/>
          </p:cNvSpPr>
          <p:nvPr/>
        </p:nvSpPr>
        <p:spPr>
          <a:xfrm>
            <a:off x="1762125" y="5438775"/>
            <a:ext cx="9620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Удобный просмотр сведений и фотографий на разных экранах.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179DA-1950-4650-A8D6-ABFF3F3AFCF5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07</a:t>
            </a:r>
          </a:p>
        </p:txBody>
      </p:sp>
      <p:sp>
        <p:nvSpPr>
          <p:cNvPr id="17" name="Subtle perimeter outline">
            <a:extLst>
              <a:ext uri="{FF2B5EF4-FFF2-40B4-BE49-F238E27FC236}">
                <a16:creationId xmlns:a16="http://schemas.microsoft.com/office/drawing/2014/main" id="{5580C8B2-57CD-4ECF-B1CC-B6A3155E5CEF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51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A3B16F0-57E1-4AE8-AC78-5533554BEA9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Практическая польза и развитие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CBD43A-4CF5-4ABD-8E8C-E1CEBD59D10A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Применение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F606BD-3FCE-41C3-BFA6-51E1FFAF0ACE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5095875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Материал для уроков краеведения</a:t>
            </a: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школьных выступлений.</a:t>
            </a:r>
          </a:p>
          <a:p>
            <a:endParaRPr sz="2025" b="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Знакомство с направлениями науки</a:t>
            </a: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производства в своём городе.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6C5CFB-6CB8-4008-B0A0-B2E13D95810D}"/>
              </a:ext>
            </a:extLst>
          </p:cNvPr>
          <p:cNvSpPr>
            <a:spLocks noGrp="1"/>
          </p:cNvSpPr>
          <p:nvPr/>
        </p:nvSpPr>
        <p:spPr>
          <a:xfrm>
            <a:off x="6648450" y="177165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Дальнейшие шаги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1FF76E0-6049-4728-8E4A-7FBEE202D151}"/>
              </a:ext>
            </a:extLst>
          </p:cNvPr>
          <p:cNvSpPr>
            <a:spLocks noGrp="1"/>
          </p:cNvSpPr>
          <p:nvPr/>
        </p:nvSpPr>
        <p:spPr>
          <a:xfrm>
            <a:off x="6648450" y="2514600"/>
            <a:ext cx="485775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Добавить новые организации.</a:t>
            </a:r>
          </a:p>
          <a:p>
            <a:endParaRPr sz="2025" b="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Дополнить фотографии и описания.</a:t>
            </a:r>
          </a:p>
          <a:p>
            <a:endParaRPr sz="2025" b="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Обновлять сведения по источникам.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FFFA4F9-ACE7-4ECA-8D45-E2A34B4C0432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en-US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4" tooltip="Открыть интерактивную карту Обнинска"/>
              </a:rPr>
              <a:t>https://obninskmap.github.io/index/</a:t>
            </a:r>
            <a:endParaRPr b="0" u="sng" dirty="0">
              <a:solidFill>
                <a:srgbClr val="366D8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6F458-2275-48ED-9210-99206DCC363D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08</a:t>
            </a:r>
          </a:p>
        </p:txBody>
      </p:sp>
      <p:sp>
        <p:nvSpPr>
          <p:cNvPr id="10" name="Subtle perimeter outline">
            <a:extLst>
              <a:ext uri="{FF2B5EF4-FFF2-40B4-BE49-F238E27FC236}">
                <a16:creationId xmlns:a16="http://schemas.microsoft.com/office/drawing/2014/main" id="{4A72A0E4-5F78-46E5-B246-529B9CD43540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447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20FFAEE-6BB2-433B-B83A-46F1DBA385B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7620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Результат проекта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B8840DB-BF53-4BE2-964F-F946449E740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733425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объединяет сведения</a:t>
            </a:r>
          </a:p>
          <a:p>
            <a:pPr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 предприятиях Обнинска</a:t>
            </a:r>
          </a:p>
          <a:p>
            <a:pPr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в одном наглядном формате.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3C14DD7-C1EA-47FF-A6B7-A217C6C43839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59531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Можно найти организацию</a:t>
            </a:r>
          </a:p>
          <a:p>
            <a:pPr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и познакомиться с её работой.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0145D8-DE4F-4A48-A933-F31EC20B0E7E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Спасибо за внимание</a:t>
            </a:r>
          </a:p>
        </p:txBody>
      </p:sp>
      <p:sp>
        <p:nvSpPr>
          <p:cNvPr id="7" name="Subtle perimeter outline">
            <a:extLst>
              <a:ext uri="{FF2B5EF4-FFF2-40B4-BE49-F238E27FC236}">
                <a16:creationId xmlns:a16="http://schemas.microsoft.com/office/drawing/2014/main" id="{93F37999-3240-4A6F-9C59-FC5C2991988B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10160">
            <a:solidFill>
              <a:srgbClr val="52776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788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ources-title">
            <a:extLst>
              <a:ext uri="{FF2B5EF4-FFF2-40B4-BE49-F238E27FC236}">
                <a16:creationId xmlns:a16="http://schemas.microsoft.com/office/drawing/2014/main" id="{87F6DFFC-654F-435A-ABF9-BC5B39FCFDA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0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Источники сведений и фотографий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0F86E81-A7AA-4458-8644-42A5FFD44997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ФЭИ</a:t>
            </a:r>
          </a:p>
        </p:txBody>
      </p:sp>
      <p:sp>
        <p:nvSpPr>
          <p:cNvPr id="6" name="source-1">
            <a:extLst>
              <a:ext uri="{FF2B5EF4-FFF2-40B4-BE49-F238E27FC236}">
                <a16:creationId xmlns:a16="http://schemas.microsoft.com/office/drawing/2014/main" id="{7040DB8E-4435-4DAC-A704-0D01BC26E0A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51"/>
              </a:rPr>
              <a:t>1. ФЭИ: официальный сайт (ippe.ru)</a:t>
            </a:r>
          </a:p>
        </p:txBody>
      </p:sp>
      <p:sp>
        <p:nvSpPr>
          <p:cNvPr id="7" name="source-2">
            <a:extLst>
              <a:ext uri="{FF2B5EF4-FFF2-40B4-BE49-F238E27FC236}">
                <a16:creationId xmlns:a16="http://schemas.microsoft.com/office/drawing/2014/main" id="{236224C3-5787-47FA-8F1E-F1F074C5439D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52"/>
              </a:rPr>
              <a:t>2. ФЭИ: экспериментальная база и фото</a:t>
            </a:r>
          </a:p>
        </p:txBody>
      </p:sp>
      <p:sp>
        <p:nvSpPr>
          <p:cNvPr id="8" name="source-3">
            <a:extLst>
              <a:ext uri="{FF2B5EF4-FFF2-40B4-BE49-F238E27FC236}">
                <a16:creationId xmlns:a16="http://schemas.microsoft.com/office/drawing/2014/main" id="{92B4CEF3-289E-4C66-BF36-EA1AD32C73B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53"/>
              </a:rPr>
              <a:t>3. ФЭИ: быстрый реактор БН-600</a:t>
            </a:r>
          </a:p>
        </p:txBody>
      </p:sp>
      <p:sp>
        <p:nvSpPr>
          <p:cNvPr id="9" name="source-4">
            <a:extLst>
              <a:ext uri="{FF2B5EF4-FFF2-40B4-BE49-F238E27FC236}">
                <a16:creationId xmlns:a16="http://schemas.microsoft.com/office/drawing/2014/main" id="{5E619F82-9FAD-4046-9363-9F36C5B72C72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54"/>
              </a:rPr>
              <a:t>4. ФЭИ: быстрый реактор БН-800</a:t>
            </a:r>
          </a:p>
        </p:txBody>
      </p:sp>
      <p:sp>
        <p:nvSpPr>
          <p:cNvPr id="10" name="source-5">
            <a:extLst>
              <a:ext uri="{FF2B5EF4-FFF2-40B4-BE49-F238E27FC236}">
                <a16:creationId xmlns:a16="http://schemas.microsoft.com/office/drawing/2014/main" id="{3D30ECDA-0E8F-4DB2-B451-7A78736725FD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55"/>
              </a:rPr>
              <a:t>5. ФЭИ: исследования на стендах БФС</a:t>
            </a:r>
          </a:p>
        </p:txBody>
      </p:sp>
      <p:sp>
        <p:nvSpPr>
          <p:cNvPr id="11" name="source-6">
            <a:extLst>
              <a:ext uri="{FF2B5EF4-FFF2-40B4-BE49-F238E27FC236}">
                <a16:creationId xmlns:a16="http://schemas.microsoft.com/office/drawing/2014/main" id="{B0FAAC21-1904-4AD3-895B-080FAE4C7B6D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56"/>
              </a:rPr>
              <a:t>6. ФЭИ: жидкометаллический стенд 6Б</a:t>
            </a:r>
          </a:p>
        </p:txBody>
      </p:sp>
      <p:sp>
        <p:nvSpPr>
          <p:cNvPr id="12" name="source-7">
            <a:extLst>
              <a:ext uri="{FF2B5EF4-FFF2-40B4-BE49-F238E27FC236}">
                <a16:creationId xmlns:a16="http://schemas.microsoft.com/office/drawing/2014/main" id="{04218D80-B4C6-45CA-8F23-1ED14AFC21BF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57"/>
              </a:rPr>
              <a:t>7. ФЭИ: научные отделения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4119C734-6F54-4CE8-8197-E7DD4D0CBF27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НИФХИ им. Карпова</a:t>
            </a:r>
          </a:p>
        </p:txBody>
      </p:sp>
      <p:sp>
        <p:nvSpPr>
          <p:cNvPr id="14" name="source-26">
            <a:extLst>
              <a:ext uri="{FF2B5EF4-FFF2-40B4-BE49-F238E27FC236}">
                <a16:creationId xmlns:a16="http://schemas.microsoft.com/office/drawing/2014/main" id="{D660C157-2FBE-49D1-8939-3048B5CC9194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6"/>
              </a:rPr>
              <a:t>26. НИФХИ: официальный сайт (karpovipc.ru)</a:t>
            </a:r>
          </a:p>
        </p:txBody>
      </p:sp>
      <p:sp>
        <p:nvSpPr>
          <p:cNvPr id="15" name="source-27">
            <a:extLst>
              <a:ext uri="{FF2B5EF4-FFF2-40B4-BE49-F238E27FC236}">
                <a16:creationId xmlns:a16="http://schemas.microsoft.com/office/drawing/2014/main" id="{083816D9-6AD7-4AB2-B9D4-6DEF39DFEDA4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7"/>
              </a:rPr>
              <a:t>27. «Наука Росатом»: НИФХИ им. Карпова</a:t>
            </a:r>
          </a:p>
        </p:txBody>
      </p:sp>
      <p:sp>
        <p:nvSpPr>
          <p:cNvPr id="16" name="source-28">
            <a:extLst>
              <a:ext uri="{FF2B5EF4-FFF2-40B4-BE49-F238E27FC236}">
                <a16:creationId xmlns:a16="http://schemas.microsoft.com/office/drawing/2014/main" id="{7DF08E08-F181-4884-A5F8-5610B16D9FA2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8"/>
              </a:rPr>
              <a:t>28. НИФХИ: история и фотография реактора</a:t>
            </a:r>
          </a:p>
        </p:txBody>
      </p:sp>
      <p:sp>
        <p:nvSpPr>
          <p:cNvPr id="17" name="source-29">
            <a:extLst>
              <a:ext uri="{FF2B5EF4-FFF2-40B4-BE49-F238E27FC236}">
                <a16:creationId xmlns:a16="http://schemas.microsoft.com/office/drawing/2014/main" id="{8587EC7D-6986-4ED2-ACA0-5FC9F8FA3956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9"/>
              </a:rPr>
              <a:t>29. «Атомная энергия 2.0»: архивное фото</a:t>
            </a:r>
          </a:p>
        </p:txBody>
      </p:sp>
      <p:sp>
        <p:nvSpPr>
          <p:cNvPr id="18" name="source-30">
            <a:extLst>
              <a:ext uri="{FF2B5EF4-FFF2-40B4-BE49-F238E27FC236}">
                <a16:creationId xmlns:a16="http://schemas.microsoft.com/office/drawing/2014/main" id="{0E0F59B4-93AF-4142-92E1-45B148C5B15C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80"/>
              </a:rPr>
              <a:t>30. НИФХИ: «Атомэкспо-2024», фотографии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4306C674-B93D-499D-B2E9-CC1AF63E7844}"/>
              </a:ext>
            </a:extLst>
          </p:cNvPr>
          <p:cNvSpPr>
            <a:spLocks noGrp="1"/>
          </p:cNvSpPr>
          <p:nvPr/>
        </p:nvSpPr>
        <p:spPr>
          <a:xfrm>
            <a:off x="4552950" y="133350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ОНПП «Технология»</a:t>
            </a:r>
          </a:p>
        </p:txBody>
      </p:sp>
      <p:sp>
        <p:nvSpPr>
          <p:cNvPr id="20" name="source-8">
            <a:extLst>
              <a:ext uri="{FF2B5EF4-FFF2-40B4-BE49-F238E27FC236}">
                <a16:creationId xmlns:a16="http://schemas.microsoft.com/office/drawing/2014/main" id="{12781018-E25B-4D71-8929-4585968B4F1F}"/>
              </a:ext>
            </a:extLst>
          </p:cNvPr>
          <p:cNvSpPr>
            <a:spLocks noGrp="1"/>
          </p:cNvSpPr>
          <p:nvPr/>
        </p:nvSpPr>
        <p:spPr>
          <a:xfrm>
            <a:off x="4552950" y="16764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58"/>
              </a:rPr>
              <a:t>8. Официальный сайт (technologiya.ru)</a:t>
            </a:r>
          </a:p>
        </p:txBody>
      </p:sp>
      <p:sp>
        <p:nvSpPr>
          <p:cNvPr id="21" name="source-9">
            <a:extLst>
              <a:ext uri="{FF2B5EF4-FFF2-40B4-BE49-F238E27FC236}">
                <a16:creationId xmlns:a16="http://schemas.microsoft.com/office/drawing/2014/main" id="{D2453157-9B3F-4F29-9FB6-71ED5F30C416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59"/>
              </a:rPr>
              <a:t>9. Администрация Обнинска: предприятие</a:t>
            </a:r>
          </a:p>
        </p:txBody>
      </p:sp>
      <p:sp>
        <p:nvSpPr>
          <p:cNvPr id="22" name="source-10">
            <a:extLst>
              <a:ext uri="{FF2B5EF4-FFF2-40B4-BE49-F238E27FC236}">
                <a16:creationId xmlns:a16="http://schemas.microsoft.com/office/drawing/2014/main" id="{517A5047-6887-40C5-BE72-A0C05B4085E5}"/>
              </a:ext>
            </a:extLst>
          </p:cNvPr>
          <p:cNvSpPr>
            <a:spLocks noGrp="1"/>
          </p:cNvSpPr>
          <p:nvPr/>
        </p:nvSpPr>
        <p:spPr>
          <a:xfrm>
            <a:off x="4552950" y="21717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0"/>
              </a:rPr>
              <a:t>10. Википедия: ОНПП «Технология»</a:t>
            </a:r>
          </a:p>
        </p:txBody>
      </p:sp>
      <p:sp>
        <p:nvSpPr>
          <p:cNvPr id="23" name="source-11">
            <a:extLst>
              <a:ext uri="{FF2B5EF4-FFF2-40B4-BE49-F238E27FC236}">
                <a16:creationId xmlns:a16="http://schemas.microsoft.com/office/drawing/2014/main" id="{95CC4A82-0FEB-4B2D-8129-B45937A0566F}"/>
              </a:ext>
            </a:extLst>
          </p:cNvPr>
          <p:cNvSpPr>
            <a:spLocks noGrp="1"/>
          </p:cNvSpPr>
          <p:nvPr/>
        </p:nvSpPr>
        <p:spPr>
          <a:xfrm>
            <a:off x="4552950" y="24193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1"/>
              </a:rPr>
              <a:t>11. Ассоциация «Наука»: карточка ГНЦ</a:t>
            </a:r>
          </a:p>
        </p:txBody>
      </p:sp>
      <p:sp>
        <p:nvSpPr>
          <p:cNvPr id="24" name="source-12">
            <a:extLst>
              <a:ext uri="{FF2B5EF4-FFF2-40B4-BE49-F238E27FC236}">
                <a16:creationId xmlns:a16="http://schemas.microsoft.com/office/drawing/2014/main" id="{1A7DD1AC-7138-4A55-94D9-A424C62E828F}"/>
              </a:ext>
            </a:extLst>
          </p:cNvPr>
          <p:cNvSpPr>
            <a:spLocks noGrp="1"/>
          </p:cNvSpPr>
          <p:nvPr/>
        </p:nvSpPr>
        <p:spPr>
          <a:xfrm>
            <a:off x="4552950" y="26670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2"/>
              </a:rPr>
              <a:t>12. Ростех: научные школы предприятия</a:t>
            </a:r>
          </a:p>
        </p:txBody>
      </p:sp>
      <p:sp>
        <p:nvSpPr>
          <p:cNvPr id="25" name="source-13">
            <a:extLst>
              <a:ext uri="{FF2B5EF4-FFF2-40B4-BE49-F238E27FC236}">
                <a16:creationId xmlns:a16="http://schemas.microsoft.com/office/drawing/2014/main" id="{8B60A09A-F896-4B87-8352-17B417883866}"/>
              </a:ext>
            </a:extLst>
          </p:cNvPr>
          <p:cNvSpPr>
            <a:spLocks noGrp="1"/>
          </p:cNvSpPr>
          <p:nvPr/>
        </p:nvSpPr>
        <p:spPr>
          <a:xfrm>
            <a:off x="4552950" y="29146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3"/>
              </a:rPr>
              <a:t>13. Администрация Обнинска: фото фасада</a:t>
            </a:r>
          </a:p>
        </p:txBody>
      </p:sp>
      <p:sp>
        <p:nvSpPr>
          <p:cNvPr id="26" name="source-14">
            <a:extLst>
              <a:ext uri="{FF2B5EF4-FFF2-40B4-BE49-F238E27FC236}">
                <a16:creationId xmlns:a16="http://schemas.microsoft.com/office/drawing/2014/main" id="{DE45D9BA-F614-4EFB-AA62-4303AA615A4B}"/>
              </a:ext>
            </a:extLst>
          </p:cNvPr>
          <p:cNvSpPr>
            <a:spLocks noGrp="1"/>
          </p:cNvSpPr>
          <p:nvPr/>
        </p:nvSpPr>
        <p:spPr>
          <a:xfrm>
            <a:off x="4552950" y="31623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4"/>
              </a:rPr>
              <a:t>14. Ростех: сотовые заполнители, фото</a:t>
            </a:r>
          </a:p>
        </p:txBody>
      </p:sp>
      <p:sp>
        <p:nvSpPr>
          <p:cNvPr id="27" name="source-15">
            <a:extLst>
              <a:ext uri="{FF2B5EF4-FFF2-40B4-BE49-F238E27FC236}">
                <a16:creationId xmlns:a16="http://schemas.microsoft.com/office/drawing/2014/main" id="{B9AF3D68-021D-44A9-ACBF-CEB9C4A65723}"/>
              </a:ext>
            </a:extLst>
          </p:cNvPr>
          <p:cNvSpPr>
            <a:spLocks noGrp="1"/>
          </p:cNvSpPr>
          <p:nvPr/>
        </p:nvSpPr>
        <p:spPr>
          <a:xfrm>
            <a:off x="4552950" y="34099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5"/>
              </a:rPr>
              <a:t>15. Ростех: керамические материалы, фото</a:t>
            </a:r>
          </a:p>
        </p:txBody>
      </p:sp>
      <p:sp>
        <p:nvSpPr>
          <p:cNvPr id="28" name="source-16">
            <a:extLst>
              <a:ext uri="{FF2B5EF4-FFF2-40B4-BE49-F238E27FC236}">
                <a16:creationId xmlns:a16="http://schemas.microsoft.com/office/drawing/2014/main" id="{B7EFE61B-DFED-43F2-92E3-1DB2B700A043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6"/>
              </a:rPr>
              <a:t>16. Ростех: остекление авиалайнеров, фото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C75003C-2A17-4258-9DB5-C03D0264B023}"/>
              </a:ext>
            </a:extLst>
          </p:cNvPr>
          <p:cNvSpPr>
            <a:spLocks noGrp="1"/>
          </p:cNvSpPr>
          <p:nvPr/>
        </p:nvSpPr>
        <p:spPr>
          <a:xfrm>
            <a:off x="4552950" y="407670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Карта и проект</a:t>
            </a:r>
          </a:p>
        </p:txBody>
      </p:sp>
      <p:sp>
        <p:nvSpPr>
          <p:cNvPr id="30" name="source-31">
            <a:extLst>
              <a:ext uri="{FF2B5EF4-FFF2-40B4-BE49-F238E27FC236}">
                <a16:creationId xmlns:a16="http://schemas.microsoft.com/office/drawing/2014/main" id="{CCFB78E1-2635-4555-91E8-0F784DDE2C29}"/>
              </a:ext>
            </a:extLst>
          </p:cNvPr>
          <p:cNvSpPr>
            <a:spLocks noGrp="1"/>
          </p:cNvSpPr>
          <p:nvPr/>
        </p:nvSpPr>
        <p:spPr>
          <a:xfrm>
            <a:off x="4552950" y="44196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81"/>
              </a:rPr>
              <a:t>31. Leaflet: библиотека интерактивной карты</a:t>
            </a:r>
          </a:p>
        </p:txBody>
      </p:sp>
      <p:sp>
        <p:nvSpPr>
          <p:cNvPr id="31" name="source-32">
            <a:extLst>
              <a:ext uri="{FF2B5EF4-FFF2-40B4-BE49-F238E27FC236}">
                <a16:creationId xmlns:a16="http://schemas.microsoft.com/office/drawing/2014/main" id="{9D531206-0359-4DFA-92A4-3C76E23980AB}"/>
              </a:ext>
            </a:extLst>
          </p:cNvPr>
          <p:cNvSpPr>
            <a:spLocks noGrp="1"/>
          </p:cNvSpPr>
          <p:nvPr/>
        </p:nvSpPr>
        <p:spPr>
          <a:xfrm>
            <a:off x="4552950" y="46672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82"/>
              </a:rPr>
              <a:t>32. OpenStreetMap: карта и авторство</a:t>
            </a:r>
          </a:p>
        </p:txBody>
      </p:sp>
      <p:sp>
        <p:nvSpPr>
          <p:cNvPr id="32" name="source-33">
            <a:extLst>
              <a:ext uri="{FF2B5EF4-FFF2-40B4-BE49-F238E27FC236}">
                <a16:creationId xmlns:a16="http://schemas.microsoft.com/office/drawing/2014/main" id="{BA8CBF6C-21AA-4611-9284-90A75783E9C8}"/>
              </a:ext>
            </a:extLst>
          </p:cNvPr>
          <p:cNvSpPr>
            <a:spLocks noGrp="1"/>
          </p:cNvSpPr>
          <p:nvPr/>
        </p:nvSpPr>
        <p:spPr>
          <a:xfrm>
            <a:off x="4552950" y="49149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83"/>
              </a:rPr>
              <a:t>33. Esri World Imagery: спутниковые снимки</a:t>
            </a:r>
          </a:p>
        </p:txBody>
      </p:sp>
      <p:sp>
        <p:nvSpPr>
          <p:cNvPr id="33" name="source-34">
            <a:extLst>
              <a:ext uri="{FF2B5EF4-FFF2-40B4-BE49-F238E27FC236}">
                <a16:creationId xmlns:a16="http://schemas.microsoft.com/office/drawing/2014/main" id="{E7F17964-BB63-4056-A03C-F734D8F3452A}"/>
              </a:ext>
            </a:extLst>
          </p:cNvPr>
          <p:cNvSpPr>
            <a:spLocks noGrp="1"/>
          </p:cNvSpPr>
          <p:nvPr/>
        </p:nvSpPr>
        <p:spPr>
          <a:xfrm>
            <a:off x="4552950" y="51625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84"/>
              </a:rPr>
              <a:t>34. Сайт проекта (obninskmap.github.io)</a:t>
            </a:r>
          </a:p>
        </p:txBody>
      </p:sp>
      <p:sp>
        <p:nvSpPr>
          <p:cNvPr id="34" name="source-35">
            <a:extLst>
              <a:ext uri="{FF2B5EF4-FFF2-40B4-BE49-F238E27FC236}">
                <a16:creationId xmlns:a16="http://schemas.microsoft.com/office/drawing/2014/main" id="{A9198A3A-8CBA-425E-A6F0-DCD9821AB2F7}"/>
              </a:ext>
            </a:extLst>
          </p:cNvPr>
          <p:cNvSpPr>
            <a:spLocks noGrp="1"/>
          </p:cNvSpPr>
          <p:nvPr/>
        </p:nvSpPr>
        <p:spPr>
          <a:xfrm>
            <a:off x="4552950" y="54102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85"/>
              </a:rPr>
              <a:t>35. Исходная карта (github.com/mgyodda)</a:t>
            </a:r>
          </a:p>
        </p:txBody>
      </p:sp>
      <p:sp>
        <p:nvSpPr>
          <p:cNvPr id="35" name="source-36">
            <a:extLst>
              <a:ext uri="{FF2B5EF4-FFF2-40B4-BE49-F238E27FC236}">
                <a16:creationId xmlns:a16="http://schemas.microsoft.com/office/drawing/2014/main" id="{D9ED99B3-637E-45E2-8276-8865ACC56EA3}"/>
              </a:ext>
            </a:extLst>
          </p:cNvPr>
          <p:cNvSpPr>
            <a:spLocks noGrp="1"/>
          </p:cNvSpPr>
          <p:nvPr/>
        </p:nvSpPr>
        <p:spPr>
          <a:xfrm>
            <a:off x="4552950" y="56578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86"/>
              </a:rPr>
              <a:t>36. Обнинск: научные центры города</a:t>
            </a:r>
          </a:p>
        </p:txBody>
      </p:sp>
      <p:sp>
        <p:nvSpPr>
          <p:cNvPr id="36" name="source-37">
            <a:extLst>
              <a:ext uri="{FF2B5EF4-FFF2-40B4-BE49-F238E27FC236}">
                <a16:creationId xmlns:a16="http://schemas.microsoft.com/office/drawing/2014/main" id="{1D176536-4DC3-49FA-BB43-3883F41D0E8F}"/>
              </a:ext>
            </a:extLst>
          </p:cNvPr>
          <p:cNvSpPr>
            <a:spLocks noGrp="1"/>
          </p:cNvSpPr>
          <p:nvPr/>
        </p:nvSpPr>
        <p:spPr>
          <a:xfrm>
            <a:off x="4552950" y="59055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87"/>
              </a:rPr>
              <a:t>37. Leaflet: документация библиотеки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09A9B19E-F085-44B7-916D-9829904E7EBC}"/>
              </a:ext>
            </a:extLst>
          </p:cNvPr>
          <p:cNvSpPr>
            <a:spLocks noGrp="1"/>
          </p:cNvSpPr>
          <p:nvPr/>
        </p:nvSpPr>
        <p:spPr>
          <a:xfrm>
            <a:off x="8420100" y="133350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НПО «Тайфун»</a:t>
            </a:r>
          </a:p>
        </p:txBody>
      </p:sp>
      <p:sp>
        <p:nvSpPr>
          <p:cNvPr id="38" name="source-17">
            <a:extLst>
              <a:ext uri="{FF2B5EF4-FFF2-40B4-BE49-F238E27FC236}">
                <a16:creationId xmlns:a16="http://schemas.microsoft.com/office/drawing/2014/main" id="{065F0CEA-DE51-4F4B-8CC3-261A974B9CAE}"/>
              </a:ext>
            </a:extLst>
          </p:cNvPr>
          <p:cNvSpPr>
            <a:spLocks noGrp="1"/>
          </p:cNvSpPr>
          <p:nvPr/>
        </p:nvSpPr>
        <p:spPr>
          <a:xfrm>
            <a:off x="8420100" y="16764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7"/>
              </a:rPr>
              <a:t>17. Официальный сайт (rpatyphoon.ru)</a:t>
            </a:r>
          </a:p>
        </p:txBody>
      </p:sp>
      <p:sp>
        <p:nvSpPr>
          <p:cNvPr id="39" name="source-18">
            <a:extLst>
              <a:ext uri="{FF2B5EF4-FFF2-40B4-BE49-F238E27FC236}">
                <a16:creationId xmlns:a16="http://schemas.microsoft.com/office/drawing/2014/main" id="{BE3432E6-BD68-421B-A730-E8EE5DEE1D74}"/>
              </a:ext>
            </a:extLst>
          </p:cNvPr>
          <p:cNvSpPr>
            <a:spLocks noGrp="1"/>
          </p:cNvSpPr>
          <p:nvPr/>
        </p:nvSpPr>
        <p:spPr>
          <a:xfrm>
            <a:off x="8420100" y="19240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8"/>
              </a:rPr>
              <a:t>18. НПО «Тайфун»: общие сведения</a:t>
            </a:r>
          </a:p>
        </p:txBody>
      </p:sp>
      <p:sp>
        <p:nvSpPr>
          <p:cNvPr id="40" name="source-19">
            <a:extLst>
              <a:ext uri="{FF2B5EF4-FFF2-40B4-BE49-F238E27FC236}">
                <a16:creationId xmlns:a16="http://schemas.microsoft.com/office/drawing/2014/main" id="{C586F016-C1B6-443C-8117-230C32B9B8FA}"/>
              </a:ext>
            </a:extLst>
          </p:cNvPr>
          <p:cNvSpPr>
            <a:spLocks noGrp="1"/>
          </p:cNvSpPr>
          <p:nvPr/>
        </p:nvSpPr>
        <p:spPr>
          <a:xfrm>
            <a:off x="8420100" y="21717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69"/>
              </a:rPr>
              <a:t>19. НПО «Тайфун»: адрес и координаты</a:t>
            </a:r>
          </a:p>
        </p:txBody>
      </p:sp>
      <p:sp>
        <p:nvSpPr>
          <p:cNvPr id="41" name="source-20">
            <a:extLst>
              <a:ext uri="{FF2B5EF4-FFF2-40B4-BE49-F238E27FC236}">
                <a16:creationId xmlns:a16="http://schemas.microsoft.com/office/drawing/2014/main" id="{D9F25468-D297-475F-B19A-B2F737263DE9}"/>
              </a:ext>
            </a:extLst>
          </p:cNvPr>
          <p:cNvSpPr>
            <a:spLocks noGrp="1"/>
          </p:cNvSpPr>
          <p:nvPr/>
        </p:nvSpPr>
        <p:spPr>
          <a:xfrm>
            <a:off x="8420100" y="24193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0"/>
              </a:rPr>
              <a:t>20. НПО «Тайфун»: мониторинг загрязнений</a:t>
            </a:r>
          </a:p>
        </p:txBody>
      </p:sp>
      <p:sp>
        <p:nvSpPr>
          <p:cNvPr id="42" name="source-21">
            <a:extLst>
              <a:ext uri="{FF2B5EF4-FFF2-40B4-BE49-F238E27FC236}">
                <a16:creationId xmlns:a16="http://schemas.microsoft.com/office/drawing/2014/main" id="{2473F700-DA73-428F-A8B5-38AF4DD6F138}"/>
              </a:ext>
            </a:extLst>
          </p:cNvPr>
          <p:cNvSpPr>
            <a:spLocks noGrp="1"/>
          </p:cNvSpPr>
          <p:nvPr/>
        </p:nvSpPr>
        <p:spPr>
          <a:xfrm>
            <a:off x="8420100" y="26670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1"/>
              </a:rPr>
              <a:t>21. НПО «Тайфун»: история</a:t>
            </a:r>
          </a:p>
        </p:txBody>
      </p:sp>
      <p:sp>
        <p:nvSpPr>
          <p:cNvPr id="43" name="source-22">
            <a:extLst>
              <a:ext uri="{FF2B5EF4-FFF2-40B4-BE49-F238E27FC236}">
                <a16:creationId xmlns:a16="http://schemas.microsoft.com/office/drawing/2014/main" id="{0182BEC2-09D9-465B-B3D9-A37986E2C4CC}"/>
              </a:ext>
            </a:extLst>
          </p:cNvPr>
          <p:cNvSpPr>
            <a:spLocks noGrp="1"/>
          </p:cNvSpPr>
          <p:nvPr/>
        </p:nvSpPr>
        <p:spPr>
          <a:xfrm>
            <a:off x="8420100" y="29146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2"/>
              </a:rPr>
              <a:t>22. НПО «Тайфун»: метеомачта ВММ-310</a:t>
            </a:r>
          </a:p>
        </p:txBody>
      </p:sp>
      <p:sp>
        <p:nvSpPr>
          <p:cNvPr id="44" name="source-23">
            <a:extLst>
              <a:ext uri="{FF2B5EF4-FFF2-40B4-BE49-F238E27FC236}">
                <a16:creationId xmlns:a16="http://schemas.microsoft.com/office/drawing/2014/main" id="{4E841116-DAC0-433F-9A4C-A25BED9680EB}"/>
              </a:ext>
            </a:extLst>
          </p:cNvPr>
          <p:cNvSpPr>
            <a:spLocks noGrp="1"/>
          </p:cNvSpPr>
          <p:nvPr/>
        </p:nvSpPr>
        <p:spPr>
          <a:xfrm>
            <a:off x="8420100" y="31623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3"/>
              </a:rPr>
              <a:t>23. Wikimedia: фото мачты, E. Privalikhina</a:t>
            </a:r>
          </a:p>
        </p:txBody>
      </p:sp>
      <p:sp>
        <p:nvSpPr>
          <p:cNvPr id="45" name="source-24">
            <a:extLst>
              <a:ext uri="{FF2B5EF4-FFF2-40B4-BE49-F238E27FC236}">
                <a16:creationId xmlns:a16="http://schemas.microsoft.com/office/drawing/2014/main" id="{F0B271A7-0414-4F51-921D-70FCE248E120}"/>
              </a:ext>
            </a:extLst>
          </p:cNvPr>
          <p:cNvSpPr>
            <a:spLocks noGrp="1"/>
          </p:cNvSpPr>
          <p:nvPr/>
        </p:nvSpPr>
        <p:spPr>
          <a:xfrm>
            <a:off x="8420100" y="340995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4"/>
              </a:rPr>
              <a:t>24. Лицензия фотографии мачты: CC BY-SA 4.0</a:t>
            </a:r>
          </a:p>
        </p:txBody>
      </p:sp>
      <p:sp>
        <p:nvSpPr>
          <p:cNvPr id="46" name="source-25">
            <a:extLst>
              <a:ext uri="{FF2B5EF4-FFF2-40B4-BE49-F238E27FC236}">
                <a16:creationId xmlns:a16="http://schemas.microsoft.com/office/drawing/2014/main" id="{DA734421-F3E6-4A72-AADB-A4EE5BA4227F}"/>
              </a:ext>
            </a:extLst>
          </p:cNvPr>
          <p:cNvSpPr>
            <a:spLocks noGrp="1"/>
          </p:cNvSpPr>
          <p:nvPr/>
        </p:nvSpPr>
        <p:spPr>
          <a:xfrm>
            <a:off x="8420100" y="3657600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13" b="0">
                <a:solidFill>
                  <a:srgbClr val="366D87"/>
                </a:solidFill>
                <a:latin typeface="DejaVu Sans"/>
                <a:ea typeface="DejaVu Sans"/>
                <a:cs typeface="DejaVu Sans"/>
              </a:defRPr>
            </a:pPr>
            <a:r>
              <a:rPr sz="1313" b="0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75"/>
              </a:rPr>
              <a:t>25. НПО «Тайфун»: установки и фотографии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7B9037A7-39BC-45C7-874F-6DF6DC465EC1}"/>
              </a:ext>
            </a:extLst>
          </p:cNvPr>
          <p:cNvSpPr>
            <a:spLocks noGrp="1"/>
          </p:cNvSpPr>
          <p:nvPr/>
        </p:nvSpPr>
        <p:spPr>
          <a:xfrm>
            <a:off x="8420100" y="4076700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Материалы проекта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C1E54E94-50B1-459E-8BAA-62E62CBD8852}"/>
              </a:ext>
            </a:extLst>
          </p:cNvPr>
          <p:cNvSpPr>
            <a:spLocks noGrp="1"/>
          </p:cNvSpPr>
          <p:nvPr/>
        </p:nvSpPr>
        <p:spPr>
          <a:xfrm>
            <a:off x="8420100" y="4419600"/>
            <a:ext cx="3286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МБОУ СОШ № 16: положение по оценке</a:t>
            </a:r>
          </a:p>
          <a:p>
            <a:pPr>
              <a:def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метапредметных результатов, приказ</a:t>
            </a:r>
          </a:p>
          <a:p>
            <a:pPr>
              <a:def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№ 367 от 06.11.2025. Предоставленный PDF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02E16F55-3F20-47B3-A2ED-DB516CEEB152}"/>
              </a:ext>
            </a:extLst>
          </p:cNvPr>
          <p:cNvSpPr>
            <a:spLocks noGrp="1"/>
          </p:cNvSpPr>
          <p:nvPr/>
        </p:nvSpPr>
        <p:spPr>
          <a:xfrm>
            <a:off x="8420100" y="5200650"/>
            <a:ext cx="32861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Филиппова Яна. «Мягкое электричество»</a:t>
            </a:r>
          </a:p>
          <a:p>
            <a:pPr>
              <a:def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Пример структуры презентации</a:t>
            </a:r>
          </a:p>
          <a:p>
            <a:pPr>
              <a:def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163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Предоставленный PDF, 13 слайдов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85613CE1-85FF-48FA-B436-9C397D9C6F2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620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050" b="0">
                <a:solidFill>
                  <a:srgbClr val="60787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607875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07875"/>
                </a:solidFill>
                <a:latin typeface="DejaVu Sans"/>
                <a:ea typeface="DejaVu Sans"/>
                <a:cs typeface="DejaVu Sans"/>
              </a:rPr>
              <a:t>Названия источников содержат ссылки. Полные адреса и авторы фотографий приведены в заметках к слайду.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57175835-0C4E-459E-885D-F95EC037D36F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050" b="0">
                <a:solidFill>
                  <a:srgbClr val="117C6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050" b="0">
                <a:solidFill>
                  <a:srgbClr val="117C6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784475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6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4F0442-FDBD-4751-8BCF-09BF8179DD13}">
  <we:reference id="wa200010215" version="2.0.0.1" store="ru-RU" storeType="OMEX"/>
  <we:alternateReferences>
    <we:reference id="WA200010215" version="2.0.0.1" store="" storeType="OMEX"/>
  </we:alternateReferences>
  <we:properties>
    <we:property name="bps.codex_control.document_id" value="&quot;e10341ba-0cf6-4742-a7c7-7ae68af0aa1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778</Words>
  <Application>Microsoft Office PowerPoint</Application>
  <DocSecurity>0</DocSecurity>
  <PresentationFormat>Широкоэкранный</PresentationFormat>
  <Paragraphs>108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Aptos</vt:lpstr>
      <vt:lpstr>DejaVu Sans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Бещасть Аллилуя</cp:lastModifiedBy>
  <cp:revision>7</cp:revision>
  <dcterms:created xsi:type="dcterms:W3CDTF">2026-09-28T07:51:44Z</dcterms:created>
  <dcterms:modified xsi:type="dcterms:W3CDTF">2026-10-07T20:30:39Z</dcterms:modified>
</cp:coreProperties>
</file>